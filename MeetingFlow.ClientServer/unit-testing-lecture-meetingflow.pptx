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a3ffebde2c475a" /><Relationship Type="http://schemas.openxmlformats.org/officeDocument/2006/relationships/extended-properties" Target="/docProps/app.xml" Id="R9e5d6f4e757b4542" /><Relationship Type="http://schemas.openxmlformats.org/officeDocument/2006/relationships/officeDocument" Target="/ppt/presentation.xml" Id="Rd33ea79f5ba94e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780150c4f74085"/>
  </p:sldMasterIdLst>
  <p:notesMasterIdLst>
    <p:notesMasterId xmlns:r="http://schemas.openxmlformats.org/officeDocument/2006/relationships" r:id="R3cd413d1a4c04d6b"/>
  </p:notesMasterIdLst>
  <p:sldIdLst>
    <p:sldId xmlns:r="http://schemas.openxmlformats.org/officeDocument/2006/relationships" id="256" r:id="R7fa1577a27c94921"/>
    <p:sldId xmlns:r="http://schemas.openxmlformats.org/officeDocument/2006/relationships" id="257" r:id="R124e983f771c451e"/>
    <p:sldId xmlns:r="http://schemas.openxmlformats.org/officeDocument/2006/relationships" id="258" r:id="R8d27e3da475b4e27"/>
    <p:sldId xmlns:r="http://schemas.openxmlformats.org/officeDocument/2006/relationships" id="259" r:id="Rb6d07ed57a6b4cdc"/>
    <p:sldId xmlns:r="http://schemas.openxmlformats.org/officeDocument/2006/relationships" id="260" r:id="Re0a471ad1f214920"/>
    <p:sldId xmlns:r="http://schemas.openxmlformats.org/officeDocument/2006/relationships" id="261" r:id="Rddb4eeefe8854697"/>
    <p:sldId xmlns:r="http://schemas.openxmlformats.org/officeDocument/2006/relationships" id="262" r:id="R118098bed3eb4f76"/>
    <p:sldId xmlns:r="http://schemas.openxmlformats.org/officeDocument/2006/relationships" id="263" r:id="R51ab53629efc4792"/>
    <p:sldId xmlns:r="http://schemas.openxmlformats.org/officeDocument/2006/relationships" id="264" r:id="Re8e45566c4464dbb"/>
    <p:sldId xmlns:r="http://schemas.openxmlformats.org/officeDocument/2006/relationships" id="265" r:id="R57006a5880fb4ebc"/>
    <p:sldId xmlns:r="http://schemas.openxmlformats.org/officeDocument/2006/relationships" id="266" r:id="Rabc4111ed6ec4d8c"/>
    <p:sldId xmlns:r="http://schemas.openxmlformats.org/officeDocument/2006/relationships" id="267" r:id="R16e58892e8824102"/>
    <p:sldId xmlns:r="http://schemas.openxmlformats.org/officeDocument/2006/relationships" id="268" r:id="Rb319199ffc274f16"/>
    <p:sldId xmlns:r="http://schemas.openxmlformats.org/officeDocument/2006/relationships" id="269" r:id="Raaedb7894d604655"/>
    <p:sldId xmlns:r="http://schemas.openxmlformats.org/officeDocument/2006/relationships" id="270" r:id="Rfc77cb29f09740ed"/>
    <p:sldId xmlns:r="http://schemas.openxmlformats.org/officeDocument/2006/relationships" id="271" r:id="R1403d3d05fe448e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589427dd0447cb" /><Relationship Type="http://schemas.openxmlformats.org/officeDocument/2006/relationships/slideMaster" Target="/ppt/slideMasters/slideMaster1.xml" Id="Rc9780150c4f74085" /><Relationship Type="http://schemas.openxmlformats.org/officeDocument/2006/relationships/notesMaster" Target="/ppt/notesMasters/notesMaster1.xml" Id="R3cd413d1a4c04d6b" /><Relationship Type="http://schemas.openxmlformats.org/officeDocument/2006/relationships/presProps" Target="/ppt/presProps.xml" Id="Rb7f0f28f081548b6" /><Relationship Type="http://schemas.openxmlformats.org/officeDocument/2006/relationships/tableStyles" Target="/ppt/tableStyles.xml" Id="R20f58cceddd74cd2" /><Relationship Type="http://schemas.openxmlformats.org/officeDocument/2006/relationships/slide" Target="/ppt/slides/slide1.xml" Id="R7fa1577a27c94921" /><Relationship Type="http://schemas.openxmlformats.org/officeDocument/2006/relationships/slide" Target="/ppt/slides/slide2.xml" Id="R124e983f771c451e" /><Relationship Type="http://schemas.openxmlformats.org/officeDocument/2006/relationships/slide" Target="/ppt/slides/slide3.xml" Id="R8d27e3da475b4e27" /><Relationship Type="http://schemas.openxmlformats.org/officeDocument/2006/relationships/slide" Target="/ppt/slides/slide4.xml" Id="Rb6d07ed57a6b4cdc" /><Relationship Type="http://schemas.openxmlformats.org/officeDocument/2006/relationships/slide" Target="/ppt/slides/slide5.xml" Id="Re0a471ad1f214920" /><Relationship Type="http://schemas.openxmlformats.org/officeDocument/2006/relationships/slide" Target="/ppt/slides/slide6.xml" Id="Rddb4eeefe8854697" /><Relationship Type="http://schemas.openxmlformats.org/officeDocument/2006/relationships/slide" Target="/ppt/slides/slide7.xml" Id="R118098bed3eb4f76" /><Relationship Type="http://schemas.openxmlformats.org/officeDocument/2006/relationships/slide" Target="/ppt/slides/slide8.xml" Id="R51ab53629efc4792" /><Relationship Type="http://schemas.openxmlformats.org/officeDocument/2006/relationships/slide" Target="/ppt/slides/slide9.xml" Id="Re8e45566c4464dbb" /><Relationship Type="http://schemas.openxmlformats.org/officeDocument/2006/relationships/slide" Target="/ppt/slides/slide10.xml" Id="R57006a5880fb4ebc" /><Relationship Type="http://schemas.openxmlformats.org/officeDocument/2006/relationships/slide" Target="/ppt/slides/slide11.xml" Id="Rabc4111ed6ec4d8c" /><Relationship Type="http://schemas.openxmlformats.org/officeDocument/2006/relationships/slide" Target="/ppt/slides/slide12.xml" Id="R16e58892e8824102" /><Relationship Type="http://schemas.openxmlformats.org/officeDocument/2006/relationships/slide" Target="/ppt/slides/slide13.xml" Id="Rb319199ffc274f16" /><Relationship Type="http://schemas.openxmlformats.org/officeDocument/2006/relationships/slide" Target="/ppt/slides/slide14.xml" Id="Raaedb7894d604655" /><Relationship Type="http://schemas.openxmlformats.org/officeDocument/2006/relationships/slide" Target="/ppt/slides/slide15.xml" Id="Rfc77cb29f09740ed" /><Relationship Type="http://schemas.openxmlformats.org/officeDocument/2006/relationships/slide" Target="/ppt/slides/slide16.xml" Id="R1403d3d05fe448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6bd6ec83f340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d4ca610a664c73" /><Relationship Type="http://schemas.openxmlformats.org/officeDocument/2006/relationships/notesMaster" Target="/ppt/notesMasters/notesMaster1.xml" Id="R78de51ecc27f43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6c0f6c6e474cc1" /><Relationship Type="http://schemas.openxmlformats.org/officeDocument/2006/relationships/notesMaster" Target="/ppt/notesMasters/notesMaster1.xml" Id="R8e227870ae164e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3041036a654f32" /><Relationship Type="http://schemas.openxmlformats.org/officeDocument/2006/relationships/notesMaster" Target="/ppt/notesMasters/notesMaster1.xml" Id="R587dbebda7ef4b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c041f993164fa1" /><Relationship Type="http://schemas.openxmlformats.org/officeDocument/2006/relationships/notesMaster" Target="/ppt/notesMasters/notesMaster1.xml" Id="Re7beb4d83d7741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99f0e371a8436d" /><Relationship Type="http://schemas.openxmlformats.org/officeDocument/2006/relationships/notesMaster" Target="/ppt/notesMasters/notesMaster1.xml" Id="R69dca65ad28243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087efb26594dc2" /><Relationship Type="http://schemas.openxmlformats.org/officeDocument/2006/relationships/notesMaster" Target="/ppt/notesMasters/notesMaster1.xml" Id="R9a63a4c557bc4d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8077a38037432e" /><Relationship Type="http://schemas.openxmlformats.org/officeDocument/2006/relationships/notesMaster" Target="/ppt/notesMasters/notesMaster1.xml" Id="Ra1ef5a03952744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fa92f44f894095" /><Relationship Type="http://schemas.openxmlformats.org/officeDocument/2006/relationships/notesMaster" Target="/ppt/notesMasters/notesMaster1.xml" Id="Ref4b52db6ddd4e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8326882f164aea" /><Relationship Type="http://schemas.openxmlformats.org/officeDocument/2006/relationships/notesMaster" Target="/ppt/notesMasters/notesMaster1.xml" Id="Rf122859850d544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2290da9c234960" /><Relationship Type="http://schemas.openxmlformats.org/officeDocument/2006/relationships/notesMaster" Target="/ppt/notesMasters/notesMaster1.xml" Id="Ra4a010fca6eb41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94a8e6d682463f" /><Relationship Type="http://schemas.openxmlformats.org/officeDocument/2006/relationships/notesMaster" Target="/ppt/notesMasters/notesMaster1.xml" Id="R16e9a056f7f245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774b78ef7843a9" /><Relationship Type="http://schemas.openxmlformats.org/officeDocument/2006/relationships/notesMaster" Target="/ppt/notesMasters/notesMaster1.xml" Id="Rafd5809d5d8d4c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a865f0c310f43de" /><Relationship Type="http://schemas.openxmlformats.org/officeDocument/2006/relationships/notesMaster" Target="/ppt/notesMasters/notesMaster1.xml" Id="Rd8033ca3dbf542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dffa43dfbe49b9" /><Relationship Type="http://schemas.openxmlformats.org/officeDocument/2006/relationships/notesMaster" Target="/ppt/notesMasters/notesMaster1.xml" Id="R593c8dcf815642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89180e389224ed0" /><Relationship Type="http://schemas.openxmlformats.org/officeDocument/2006/relationships/notesMaster" Target="/ppt/notesMasters/notesMaster1.xml" Id="Rc02c938d2068475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d98584b1efe4df3" /><Relationship Type="http://schemas.openxmlformats.org/officeDocument/2006/relationships/notesMaster" Target="/ppt/notesMasters/notesMaster1.xml" Id="Rfd0da4afe5eb4e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minute.</a:t>
            </a:r>
          </a:p>
          <a:p xmlns:a="http://schemas.openxmlformats.org/drawingml/2006/main">
            <a:r>
              <a:t>Open with the claim: the easiest tests come from production code with clear boundaries.</a:t>
            </a:r>
          </a:p>
          <a:p xmlns:a="http://schemas.openxmlformats.org/drawingml/2006/main">
            <a:r>
              <a:t>The lecture uses one file-upload feature in both React and C#.</a:t>
            </a:r>
          </a:p>
          <a:p xmlns:a="http://schemas.openxmlformats.org/drawingml/2006/main">
            <a:r>
              <a:t>
[Sources]
- Zionet visual style and integrated background/footer: user-provided PP Presentation 2.odp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Define a unit by behavior and boundary, not by method size.</a:t>
            </a:r>
          </a:p>
          <a:p xmlns:a="http://schemas.openxmlformats.org/drawingml/2006/main">
            <a:r>
              <a:t>A useful unit can include several functions as long as inputs and outputs remain controlled.</a:t>
            </a:r>
          </a:p>
          <a:p xmlns:a="http://schemas.openxmlformats.org/drawingml/2006/main">
            <a:r>
              <a:t>Source: https://learn.microsoft.com/dotnet/core/testing/unit-testing-best-practices</a:t>
            </a:r>
          </a:p>
          <a:p xmlns:a="http://schemas.openxmlformats.org/drawingml/2006/main">
            <a:r>
              <a:t>
[Sources]
- Zionet visual style and integrated background/footer: user-provided PP Presentation 2.odp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These three ideas will reappear in both stacks.</a:t>
            </a:r>
          </a:p>
          <a:p xmlns:a="http://schemas.openxmlformats.org/drawingml/2006/main">
            <a:r>
              <a:t>Do not present dependency injection as merely a way to insert mocks; it makes requirements explicit.</a:t>
            </a:r>
          </a:p>
          <a:p xmlns:a="http://schemas.openxmlformats.org/drawingml/2006/main">
            <a:r>
              <a:t>Sources: https://react.dev/learn/keeping-components-pure and https://learn.microsoft.com/dotnet/core/extensions/dependency-injection/guidelines</a:t>
            </a:r>
          </a:p>
          <a:p xmlns:a="http://schemas.openxmlformats.org/drawingml/2006/main">
            <a:r>
              <a:t>
[Sources]
- Zionet visual style and integrated background/footer: user-provided PP Presentation 2.odp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minute. Theory total is now approximately 10 minutes.</a:t>
            </a:r>
          </a:p>
          <a:p xmlns:a="http://schemas.openxmlformats.org/drawingml/2006/main">
            <a:r>
              <a:t>Frame the example: status, permissions, rendering, and the backend registration rule are separate decisions even when one feature connects them. React side: MeetingFlow.Web/src/examples/unit-testing-lecture. C# side: MeetingFlow.Api.Tests/UnitTestingLecture.</a:t>
            </a:r>
          </a:p>
          <a:p xmlns:a="http://schemas.openxmlformats.org/drawingml/2006/main">
            <a:r>
              <a:t>
[Sources]
- Zionet visual style and integrated background/footer: user-provided PP Presentation 2.odp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Open before/MeetingRow.tsx. Ask the audience to name the four responsibilities before revealing the right column.</a:t>
            </a:r>
          </a:p>
          <a:p xmlns:a="http://schemas.openxmlformats.org/drawingml/2006/main">
            <a:r>
              <a:t>The goal is not to ban conditions in JSX. Extract logic when it represents a rule or has meaningful branches. The same badge ternary is copied verbatim in MeetingCard.tsx, MeetingTable.tsx and MeetingDetailsPage.tsx.</a:t>
            </a:r>
          </a:p>
          <a:p xmlns:a="http://schemas.openxmlformats.org/drawingml/2006/main">
            <a:r>
              <a:t>
[Sources]
- Zionet visual style and integrated background/footer: user-provided PP Presentation 2.odp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Resolver is a team-friendly name, not an official React term. Alternatives include selector, presenter, mapper, props factory, or view-model builder.</a:t>
            </a:r>
          </a:p>
          <a:p xmlns:a="http://schemas.openxmlformats.org/drawingml/2006/main">
            <a:r>
              <a:t>The component calls this function and renders the returned view model. See after/resolveMeetingRow.ts and after/MeetingRow.tsx.</a:t>
            </a:r>
          </a:p>
          <a:p xmlns:a="http://schemas.openxmlformats.org/drawingml/2006/main">
            <a:r>
              <a:t>Source: https://redux.js.org/usage/deriving-data-selectors</a:t>
            </a:r>
          </a:p>
          <a:p xmlns:a="http://schemas.openxmlformats.org/drawingml/2006/main">
            <a:r>
              <a:t>
[Sources]
- Zionet visual style and integrated background/footer: user-provided PP Presentation 2.odp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Show how parameterized tests make business combinations visible. The slide uses the compact tuple form; __tests__/resolveMeetingRow.test.ts uses the object form with $scenario so each case prints its own name.</a:t>
            </a:r>
          </a:p>
          <a:p xmlns:a="http://schemas.openxmlformats.org/drawingml/2006/main">
            <a:r>
              <a:t>Ask what case is still missing—for example an Organizer who does not own the meeting.</a:t>
            </a:r>
          </a:p>
          <a:p xmlns:a="http://schemas.openxmlformats.org/drawingml/2006/main">
            <a:r>
              <a:t>
[Sources]
- Zionet visual style and integrated background/footer: user-provided PP Presentation 2.odp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Resolver tests cover the combinations. The component test proves wiring and user behavior. See __tests__/MeetingRow.test.tsx.</a:t>
            </a:r>
          </a:p>
          <a:p xmlns:a="http://schemas.openxmlformats.org/drawingml/2006/main">
            <a:r>
              <a:t>Testing Library prioritizes role and accessible-name queries.</a:t>
            </a:r>
          </a:p>
          <a:p xmlns:a="http://schemas.openxmlformats.org/drawingml/2006/main">
            <a:r>
              <a:t>Sources: https://testing-library.com/docs/queries/about/ and https://mswjs.io/docs/</a:t>
            </a:r>
          </a:p>
          <a:p xmlns:a="http://schemas.openxmlformats.org/drawingml/2006/main">
            <a:r>
              <a:t>
[Sources]
- Zionet visual style and integrated background/footer: user-provided PP Presentation 2.odp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Open Before/HardToTestRegistrationService.cs. Ask which lines are the business rule and which are infrastructure.</a:t>
            </a:r>
          </a:p>
          <a:p xmlns:a="http://schemas.openxmlformats.org/drawingml/2006/main">
            <a:r>
              <a:t>Direct construction hides requirements and forces infrastructure into otherwise simple tests. Note honestly: the shipped RegistrationsEndpoints.cs receives its DbContext by injection and has no status or capacity check at all — this class is what it becomes once someone adds the rules the quick way.</a:t>
            </a:r>
          </a:p>
          <a:p xmlns:a="http://schemas.openxmlformats.org/drawingml/2006/main">
            <a:r>
              <a:t>
[Sources]
- Zionet visual style and integrated background/footer: user-provided PP Presentation 2.odp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Functional core, imperative shell: pure code decides; outer code coordinates effects.</a:t>
            </a:r>
          </a:p>
          <a:p xmlns:a="http://schemas.openxmlformats.org/drawingml/2006/main">
            <a:r>
              <a:t>The service still has value—it orchestrates the use case—but it no longer owns the registration policy. See Refactored/RegistrationRule.cs and Refactored/RegistrationService.cs.</a:t>
            </a:r>
          </a:p>
          <a:p xmlns:a="http://schemas.openxmlformats.org/drawingml/2006/main">
            <a:r>
              <a:t>Source: https://learn.microsoft.com/dotnet/core/testing/unit-testing-best-practices</a:t>
            </a:r>
          </a:p>
          <a:p xmlns:a="http://schemas.openxmlformats.org/drawingml/2006/main">
            <a:r>
              <a:t>
[Sources]
- Zionet visual style and integrated background/footer: user-provided PP Presentation 2.odp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The decision test checks all combinations cheaply. The orchestration test checks meaningful effects. See Tests/RegistrationRuleTests.cs and Tests/RegistrationServiceTests.cs.</a:t>
            </a:r>
          </a:p>
          <a:p xmlns:a="http://schemas.openxmlformats.org/drawingml/2006/main">
            <a:r>
              <a:t>Explain stub versus spy in one sentence: a stub supplies data; a spy records an important call.</a:t>
            </a:r>
          </a:p>
          <a:p xmlns:a="http://schemas.openxmlformats.org/drawingml/2006/main">
            <a:r>
              <a:t>
[Sources]
- Zionet visual style and integrated background/footer: user-provided PP Presentation 2.odp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The principle applies equally to frontend timers and backend time providers. TimeProvider is a real BCL type (.NET 8+); IGuidGenerator and IRandomSource are small interfaces you write yourself — there is no BCL equivalent.</a:t>
            </a:r>
          </a:p>
          <a:p xmlns:a="http://schemas.openxmlformats.org/drawingml/2006/main">
            <a:r>
              <a:t>Avoid arbitrary sleeps. Advance fake time instead.</a:t>
            </a:r>
          </a:p>
          <a:p xmlns:a="http://schemas.openxmlformats.org/drawingml/2006/main">
            <a:r>
              <a:t>Source: https://learn.microsoft.com/dotnet/core/extensions/timeprovider-testing</a:t>
            </a:r>
          </a:p>
          <a:p xmlns:a="http://schemas.openxmlformats.org/drawingml/2006/main">
            <a:r>
              <a:t>
[Sources]
- Zionet visual style and integrated background/footer: user-provided PP Presentation 2.odp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This is not a competition between test types. Use the lowest-cost level that can prove the behavior.</a:t>
            </a:r>
          </a:p>
          <a:p xmlns:a="http://schemas.openxmlformats.org/drawingml/2006/main">
            <a:r>
              <a:t>For ASP.NET pipeline behavior, WebApplicationFactory is an appropriate integration boundary. MeetingFlow.Api runs EF Core on SQLite, so a real-provider test is cheap to add later.</a:t>
            </a:r>
          </a:p>
          <a:p xmlns:a="http://schemas.openxmlformats.org/drawingml/2006/main">
            <a:r>
              <a:t>Source: https://learn.microsoft.com/aspnet/core/test/integration-tests</a:t>
            </a:r>
          </a:p>
          <a:p xmlns:a="http://schemas.openxmlformats.org/drawingml/2006/main">
            <a:r>
              <a:t>
[Sources]
- Zionet visual style and integrated background/footer: user-provided PP Presentation 2.odp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10–15 minutes.</a:t>
            </a:r>
          </a:p>
          <a:p xmlns:a="http://schemas.openxmlformats.org/drawingml/2006/main">
            <a:r>
              <a:t>Exercise folders: MeetingFlow.Web/src/examples/unit-testing-lecture/exercise and MeetingFlow.Api.Tests/UnitTestingLecture/Exercise. Run npm run test:exercise and dotnet test --filter "FullyQualifiedName~UnitTestingLecture.Exercise".</a:t>
            </a:r>
          </a:p>
          <a:p xmlns:a="http://schemas.openxmlformats.org/drawingml/2006/main">
            <a:r>
              <a:t>During discussion, focus on the design change—not the number of assertions.</a:t>
            </a:r>
          </a:p>
          <a:p xmlns:a="http://schemas.openxmlformats.org/drawingml/2006/main">
            <a:r>
              <a:t>
[Sources]
- Zionet visual style and integrated background/footer: user-provided PP Presentation 2.odp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Optional reference slide; do not spend lecture time reading URLs.</a:t>
            </a:r>
          </a:p>
          <a:p xmlns:a="http://schemas.openxmlformats.org/drawingml/2006/main">
            <a:r>
              <a:t>Use these sources for teacher discussion or follow-up material.</a:t>
            </a:r>
          </a:p>
          <a:p xmlns:a="http://schemas.openxmlformats.org/drawingml/2006/main">
            <a:r>
              <a:t>
[Sources]
- Zionet visual style and integrated background/footer: user-provided PP Presentation 2.odp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Return to the opening claim: unit tests start with production-code boundaries.</a:t>
            </a:r>
          </a:p>
          <a:p xmlns:a="http://schemas.openxmlformats.org/drawingml/2006/main">
            <a:r>
              <a:t>Invite the audience to choose one real feature and apply the three-step checklist this week.</a:t>
            </a:r>
          </a:p>
          <a:p xmlns:a="http://schemas.openxmlformats.org/drawingml/2006/main">
            <a:r>
              <a:t>
[Sources]
- Zionet visual style and integrated background/footer: user-provided PP Presentation 2.odp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385bcc06e441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62d045a69a417a" /><Relationship Type="http://schemas.openxmlformats.org/officeDocument/2006/relationships/slideLayout" Target="/ppt/slideLayouts/slideLayout1.xml" Id="Ra291dd707d7f4f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91dd707d7f4f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4f23ef3634848" /><Relationship Type="http://schemas.openxmlformats.org/officeDocument/2006/relationships/image" Target="/ppt/media/image.jpeg" Id="Rea8d2c24b8d648be" /><Relationship Type="http://schemas.openxmlformats.org/officeDocument/2006/relationships/notesSlide" Target="/ppt/notesSlides/notesSlide1.xml" Id="R5a88dc49b00b45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822a660b94a1c" /><Relationship Type="http://schemas.openxmlformats.org/officeDocument/2006/relationships/image" Target="/ppt/media/image2.jpeg" Id="R4d617a77b7584268" /><Relationship Type="http://schemas.openxmlformats.org/officeDocument/2006/relationships/notesSlide" Target="/ppt/notesSlides/notesSlide2.xml" Id="Rf51a229823b240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354f472684f4a" /><Relationship Type="http://schemas.openxmlformats.org/officeDocument/2006/relationships/image" Target="/ppt/media/image3.jpeg" Id="R279615eac2854f07" /><Relationship Type="http://schemas.openxmlformats.org/officeDocument/2006/relationships/notesSlide" Target="/ppt/notesSlides/notesSlide3.xml" Id="R748d3229d3514e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5fbbfd14b485e" /><Relationship Type="http://schemas.openxmlformats.org/officeDocument/2006/relationships/image" Target="/ppt/media/image4.jpeg" Id="Rc4c2a6a291384a6d" /><Relationship Type="http://schemas.openxmlformats.org/officeDocument/2006/relationships/notesSlide" Target="/ppt/notesSlides/notesSlide4.xml" Id="R766f8c8915654e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fa792ebbe419b" /><Relationship Type="http://schemas.openxmlformats.org/officeDocument/2006/relationships/image" Target="/ppt/media/image5.jpeg" Id="R81cc6f96df4845ab" /><Relationship Type="http://schemas.openxmlformats.org/officeDocument/2006/relationships/notesSlide" Target="/ppt/notesSlides/notesSlide5.xml" Id="Rd2748f6b8e6242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d0121ed2846eb" /><Relationship Type="http://schemas.openxmlformats.org/officeDocument/2006/relationships/image" Target="/ppt/media/image6.jpeg" Id="Rec21161c062f49d3" /><Relationship Type="http://schemas.openxmlformats.org/officeDocument/2006/relationships/notesSlide" Target="/ppt/notesSlides/notesSlide6.xml" Id="R862ea7c1367749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afe90a29e4307" /><Relationship Type="http://schemas.openxmlformats.org/officeDocument/2006/relationships/image" Target="/ppt/media/image7.jpeg" Id="Ra8368981f7d64dc7" /><Relationship Type="http://schemas.openxmlformats.org/officeDocument/2006/relationships/notesSlide" Target="/ppt/notesSlides/notesSlide7.xml" Id="R8a22b45a43344e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6e1943cd04452" /><Relationship Type="http://schemas.openxmlformats.org/officeDocument/2006/relationships/image" Target="/ppt/media/image8.jpeg" Id="R32f1a01a316a4f1d" /><Relationship Type="http://schemas.openxmlformats.org/officeDocument/2006/relationships/notesSlide" Target="/ppt/notesSlides/notesSlide8.xml" Id="Rb65ae2258e5d44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f5641cb174493" /><Relationship Type="http://schemas.openxmlformats.org/officeDocument/2006/relationships/image" Target="/ppt/media/image9.jpeg" Id="Re3a5936d79d046b2" /><Relationship Type="http://schemas.openxmlformats.org/officeDocument/2006/relationships/notesSlide" Target="/ppt/notesSlides/notesSlide9.xml" Id="R1b33a37a68bf4b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023a8cff44095" /><Relationship Type="http://schemas.openxmlformats.org/officeDocument/2006/relationships/image" Target="/ppt/media/image10.jpeg" Id="Rcceeee315f1a43b9" /><Relationship Type="http://schemas.openxmlformats.org/officeDocument/2006/relationships/notesSlide" Target="/ppt/notesSlides/notesSlide10.xml" Id="R068572c31b344a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704decde94b5a" /><Relationship Type="http://schemas.openxmlformats.org/officeDocument/2006/relationships/image" Target="/ppt/media/image11.jpeg" Id="Rb88e06e008e1471b" /><Relationship Type="http://schemas.openxmlformats.org/officeDocument/2006/relationships/notesSlide" Target="/ppt/notesSlides/notesSlide11.xml" Id="R0c696ab4c81a4a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467c145bf4ebf" /><Relationship Type="http://schemas.openxmlformats.org/officeDocument/2006/relationships/image" Target="/ppt/media/image12.jpeg" Id="Rc0cb00d11765415e" /><Relationship Type="http://schemas.openxmlformats.org/officeDocument/2006/relationships/notesSlide" Target="/ppt/notesSlides/notesSlide12.xml" Id="Rca34d82517474f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641c1ec6042da" /><Relationship Type="http://schemas.openxmlformats.org/officeDocument/2006/relationships/image" Target="/ppt/media/image13.jpeg" Id="R85e3a4a4d7ed4821" /><Relationship Type="http://schemas.openxmlformats.org/officeDocument/2006/relationships/notesSlide" Target="/ppt/notesSlides/notesSlide13.xml" Id="R29ed27bcd56a45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3f8bf034c418c" /><Relationship Type="http://schemas.openxmlformats.org/officeDocument/2006/relationships/image" Target="/ppt/media/image14.jpeg" Id="R492559827d794fab" /><Relationship Type="http://schemas.openxmlformats.org/officeDocument/2006/relationships/notesSlide" Target="/ppt/notesSlides/notesSlide14.xml" Id="R4074f1d9270747f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a2aafa6c64a8f" /><Relationship Type="http://schemas.openxmlformats.org/officeDocument/2006/relationships/image" Target="/ppt/media/image15.jpeg" Id="R448cc7a49657497e" /><Relationship Type="http://schemas.openxmlformats.org/officeDocument/2006/relationships/notesSlide" Target="/ppt/notesSlides/notesSlide15.xml" Id="R61d45ce266564277" /><Relationship Type="http://schemas.openxmlformats.org/officeDocument/2006/relationships/hyperlink" Target="https://react.dev/learn/keeping-components-pure" TargetMode="External" Id="rHl1" /><Relationship Type="http://schemas.openxmlformats.org/officeDocument/2006/relationships/hyperlink" Target="https://testing-library.com/docs/queries/about/" TargetMode="External" Id="rHl2" /><Relationship Type="http://schemas.openxmlformats.org/officeDocument/2006/relationships/hyperlink" Target="https://redux.js.org/usage/deriving-data-selectors" TargetMode="External" Id="rHl3" /><Relationship Type="http://schemas.openxmlformats.org/officeDocument/2006/relationships/hyperlink" Target="https://mswjs.io/docs/" TargetMode="External" Id="rHl4" /><Relationship Type="http://schemas.openxmlformats.org/officeDocument/2006/relationships/hyperlink" Target="https://learn.microsoft.com/dotnet/core/testing/unit-testing-best-practices" TargetMode="External" Id="rHl5" /><Relationship Type="http://schemas.openxmlformats.org/officeDocument/2006/relationships/hyperlink" Target="https://learn.microsoft.com/dotnet/core/extensions/dependency-injection/guidelines" TargetMode="External" Id="rHl6" /><Relationship Type="http://schemas.openxmlformats.org/officeDocument/2006/relationships/hyperlink" Target="https://learn.microsoft.com/dotnet/core/extensions/timeprovider-testing" TargetMode="External" Id="rHl7" /><Relationship Type="http://schemas.openxmlformats.org/officeDocument/2006/relationships/hyperlink" Target="https://learn.microsoft.com/aspnet/core/test/integration-tests" TargetMode="External" Id="rHl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9a4b75c2e458c" /><Relationship Type="http://schemas.openxmlformats.org/officeDocument/2006/relationships/image" Target="/ppt/media/image16.jpeg" Id="Rb03935484053493b" /><Relationship Type="http://schemas.openxmlformats.org/officeDocument/2006/relationships/notesSlide" Target="/ppt/notesSlides/notesSlide16.xml" Id="R9298ad9588af4e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8d2c24b8d648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38AC79D-1012-4397-AFE1-9B00EBF2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266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50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REACT + C#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0041F02-DEDE-4372-A45D-AE0808BD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85725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55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555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Unit tests start
before the test file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DFBAA01-2CF6-4133-9F47-4A59178F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723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2100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Designing code that is naturally easy to test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9BCF2475-A800-4220-947B-DECB77D0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19250"/>
            <a:ext cx="2171700" cy="3714750"/>
          </a:xfrm>
          <a:prstGeom xmlns:a="http://schemas.openxmlformats.org/drawingml/2006/main" prst="roundRect">
            <a:avLst>
              <a:gd name="adj" fmla="val 3509"/>
            </a:avLst>
          </a:prstGeom>
          <a:gradFill xmlns:a="http://schemas.openxmlformats.org/drawingml/2006/main">
            <a:gsLst>
              <a:gs pos="0">
                <a:srgbClr val="002250"/>
              </a:gs>
              <a:gs pos="100000">
                <a:srgbClr val="5ACAE2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cover-accent-text">
            <a:extLst xmlns:a="http://schemas.openxmlformats.org/drawingml/2006/main">
              <a:ext uri="{FF2B5EF4-FFF2-40B4-BE49-F238E27FC236}">
                <a16:creationId xmlns:a16="http://schemas.microsoft.com/office/drawing/2014/main" id="{F97D97A1-DF00-4553-B49F-05AAC90C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47875"/>
            <a:ext cx="180975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Rubik Medium"/>
                <a:ea typeface="Rubik Medium"/>
                <a:cs typeface="Rubik Medium"/>
              </a:defRPr>
            </a:pPr>
            <a:r>
              <a:rPr sz="2175" b="1">
                <a:solidFill>
                  <a:srgbClr val="FFFFFF"/>
                </a:solidFill>
                <a:latin typeface="Rubik Medium"/>
                <a:ea typeface="Rubik Medium"/>
                <a:cs typeface="Rubik Medium"/>
              </a:rPr>
              <a:t>pure
explicit
observable</a:t>
            </a:r>
          </a:p>
        </p:txBody>
      </p:sp>
    </p:spTree>
    <p:extLst>
      <p:ext uri="{BB962C8B-B14F-4D97-AF65-F5344CB8AC3E}">
        <p14:creationId xmlns:p14="http://schemas.microsoft.com/office/powerpoint/2010/main" val="18476178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17a77b758426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0F8EC8E0-BAEF-4227-96EE-7AE62708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A unit is a decision inside a controlled boundary</a:t>
            </a:r>
          </a:p>
        </p:txBody>
      </p:sp>
      <p:cxnSp>
        <p:nvCxnSpPr>
          <p:cNvPr id="21" name="title-rule-2"/>
          <p:cNvCxnSpPr/>
          <p:nvPr/>
        </p:nvCxnSpPr>
        <p:spPr>
          <a:xfrm xmlns:a="http://schemas.openxmlformats.org/drawingml/2006/main">
            <a:off x="400050" y="14287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91AE"/>
            </a:solidFill>
            <a:prstDash val="solid"/>
          </a:ln>
        </p:spPr>
      </p:cxn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26BA28B4-B605-4528-BDF6-AA527586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3C91AE"/>
                </a:solidFill>
                <a:latin typeface="Rubik"/>
                <a:ea typeface="Rubik"/>
                <a:cs typeface="Rubik"/>
              </a:defRPr>
            </a:pPr>
            <a:r>
              <a:rPr sz="975" b="0">
                <a:solidFill>
                  <a:srgbClr val="3C91AE"/>
                </a:solidFill>
                <a:latin typeface="Rubik"/>
                <a:ea typeface="Rubik"/>
                <a:cs typeface="Rubik"/>
              </a:rPr>
              <a:t>02</a:t>
            </a:r>
          </a:p>
        </p:txBody>
      </p:sp>
      <p:sp>
        <p:nvSpPr>
          <p:cNvPr id="4" name="eyebrow-2">
            <a:extLst xmlns:a="http://schemas.openxmlformats.org/drawingml/2006/main">
              <a:ext uri="{FF2B5EF4-FFF2-40B4-BE49-F238E27FC236}">
                <a16:creationId xmlns:a16="http://schemas.microsoft.com/office/drawing/2014/main" id="{31BC6E39-2B29-4072-9211-73A6DC62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THEORY · 4 MIN</a:t>
            </a:r>
          </a:p>
        </p:txBody>
      </p:sp>
      <p:sp>
        <p:nvSpPr>
          <p:cNvPr id="5" name="boundary-outer">
            <a:extLst xmlns:a="http://schemas.openxmlformats.org/drawingml/2006/main">
              <a:ext uri="{FF2B5EF4-FFF2-40B4-BE49-F238E27FC236}">
                <a16:creationId xmlns:a16="http://schemas.microsoft.com/office/drawing/2014/main" id="{876381AA-BE29-493F-9BF8-5128F899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38350"/>
            <a:ext cx="9906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undary-core">
            <a:extLst xmlns:a="http://schemas.openxmlformats.org/drawingml/2006/main">
              <a:ext uri="{FF2B5EF4-FFF2-40B4-BE49-F238E27FC236}">
                <a16:creationId xmlns:a16="http://schemas.microsoft.com/office/drawing/2014/main" id="{6672317B-7DF1-413E-9429-58C74DD3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14625"/>
            <a:ext cx="38481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undary-input">
            <a:extLst xmlns:a="http://schemas.openxmlformats.org/drawingml/2006/main">
              <a:ext uri="{FF2B5EF4-FFF2-40B4-BE49-F238E27FC236}">
                <a16:creationId xmlns:a16="http://schemas.microsoft.com/office/drawing/2014/main" id="{0AA0FF1F-9074-44B2-AA22-19DF4D03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76575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3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CONTROLLED INPUT</a:t>
            </a:r>
          </a:p>
        </p:txBody>
      </p:sp>
      <p:sp>
        <p:nvSpPr>
          <p:cNvPr id="8" name="boundary-arrow-1">
            <a:extLst xmlns:a="http://schemas.openxmlformats.org/drawingml/2006/main">
              <a:ext uri="{FF2B5EF4-FFF2-40B4-BE49-F238E27FC236}">
                <a16:creationId xmlns:a16="http://schemas.microsoft.com/office/drawing/2014/main" id="{9A429E6E-DFA4-4923-879D-4F26A42C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00400"/>
            <a:ext cx="476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5ACAE2"/>
                </a:solidFill>
                <a:latin typeface="Rubik Medium"/>
                <a:ea typeface="Rubik Medium"/>
                <a:cs typeface="Rubik Medium"/>
              </a:defRPr>
            </a:pPr>
            <a:r>
              <a:rPr sz="3300" b="1">
                <a:solidFill>
                  <a:srgbClr val="5ACAE2"/>
                </a:solidFill>
                <a:latin typeface="Rubik Medium"/>
                <a:ea typeface="Rubik Medium"/>
                <a:cs typeface="Rubik Medium"/>
              </a:rPr>
              <a:t>→</a:t>
            </a:r>
          </a:p>
        </p:txBody>
      </p:sp>
      <p:sp>
        <p:nvSpPr>
          <p:cNvPr id="9" name="boundary-core-title">
            <a:extLst xmlns:a="http://schemas.openxmlformats.org/drawingml/2006/main">
              <a:ext uri="{FF2B5EF4-FFF2-40B4-BE49-F238E27FC236}">
                <a16:creationId xmlns:a16="http://schemas.microsoft.com/office/drawing/2014/main" id="{A2A1F016-A99B-41A7-834E-D4384356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52775"/>
            <a:ext cx="2819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217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DECISION</a:t>
            </a:r>
          </a:p>
        </p:txBody>
      </p:sp>
      <p:sp>
        <p:nvSpPr>
          <p:cNvPr id="10" name="boundary-core-body">
            <a:extLst xmlns:a="http://schemas.openxmlformats.org/drawingml/2006/main">
              <a:ext uri="{FF2B5EF4-FFF2-40B4-BE49-F238E27FC236}">
                <a16:creationId xmlns:a16="http://schemas.microsoft.com/office/drawing/2014/main" id="{C10DAFD4-3994-429B-A7DE-2E8376F4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05225"/>
            <a:ext cx="304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425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business rule or transformation</a:t>
            </a:r>
          </a:p>
        </p:txBody>
      </p:sp>
      <p:sp>
        <p:nvSpPr>
          <p:cNvPr id="11" name="boundary-arrow-2">
            <a:extLst xmlns:a="http://schemas.openxmlformats.org/drawingml/2006/main">
              <a:ext uri="{FF2B5EF4-FFF2-40B4-BE49-F238E27FC236}">
                <a16:creationId xmlns:a16="http://schemas.microsoft.com/office/drawing/2014/main" id="{E07151E4-48B0-4810-B7CD-3C7A59E7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0400"/>
            <a:ext cx="476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5ACAE2"/>
                </a:solidFill>
                <a:latin typeface="Rubik Medium"/>
                <a:ea typeface="Rubik Medium"/>
                <a:cs typeface="Rubik Medium"/>
              </a:defRPr>
            </a:pPr>
            <a:r>
              <a:rPr sz="3300" b="1">
                <a:solidFill>
                  <a:srgbClr val="5ACAE2"/>
                </a:solidFill>
                <a:latin typeface="Rubik Medium"/>
                <a:ea typeface="Rubik Medium"/>
                <a:cs typeface="Rubik Medium"/>
              </a:rPr>
              <a:t>→</a:t>
            </a:r>
          </a:p>
        </p:txBody>
      </p:sp>
      <p:sp>
        <p:nvSpPr>
          <p:cNvPr id="12" name="boundary-output">
            <a:extLst xmlns:a="http://schemas.openxmlformats.org/drawingml/2006/main">
              <a:ext uri="{FF2B5EF4-FFF2-40B4-BE49-F238E27FC236}">
                <a16:creationId xmlns:a16="http://schemas.microsoft.com/office/drawing/2014/main" id="{14B7C4EA-11EF-4CC0-A470-052A9D1A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76575"/>
            <a:ext cx="200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3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OBSERVABLE RESULT</a:t>
            </a:r>
          </a:p>
        </p:txBody>
      </p:sp>
      <p:sp>
        <p:nvSpPr>
          <p:cNvPr id="13" name="boundary-note">
            <a:extLst xmlns:a="http://schemas.openxmlformats.org/drawingml/2006/main">
              <a:ext uri="{FF2B5EF4-FFF2-40B4-BE49-F238E27FC236}">
                <a16:creationId xmlns:a16="http://schemas.microsoft.com/office/drawing/2014/main" id="{DF56CCFE-F413-4626-B2A3-8B0FB7F9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76850"/>
            <a:ext cx="811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57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If the boundary includes a real database, network, or clock, it is no longer controlled.</a:t>
            </a:r>
          </a:p>
        </p:txBody>
      </p:sp>
    </p:spTree>
    <p:extLst>
      <p:ext uri="{BB962C8B-B14F-4D97-AF65-F5344CB8AC3E}">
        <p14:creationId xmlns:p14="http://schemas.microsoft.com/office/powerpoint/2010/main" val="16551031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615eac2854f0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169D849B-44DB-4716-8FC7-1DEDAD15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Three design moves remove most testing friction</a:t>
            </a:r>
          </a:p>
        </p:txBody>
      </p:sp>
      <p:cxnSp>
        <p:nvCxnSpPr>
          <p:cNvPr id="24" name="title-rule-3"/>
          <p:cNvCxnSpPr/>
          <p:nvPr/>
        </p:nvCxnSpPr>
        <p:spPr>
          <a:xfrm xmlns:a="http://schemas.openxmlformats.org/drawingml/2006/main">
            <a:off x="400050" y="14287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91AE"/>
            </a:solidFill>
            <a:prstDash val="solid"/>
          </a:ln>
        </p:spPr>
      </p:cxn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D3CFE24C-1EDC-4DB2-9D70-A8965838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3C91AE"/>
                </a:solidFill>
                <a:latin typeface="Rubik"/>
                <a:ea typeface="Rubik"/>
                <a:cs typeface="Rubik"/>
              </a:defRPr>
            </a:pPr>
            <a:r>
              <a:rPr sz="975" b="0">
                <a:solidFill>
                  <a:srgbClr val="3C91AE"/>
                </a:solidFill>
                <a:latin typeface="Rubik"/>
                <a:ea typeface="Rubik"/>
                <a:cs typeface="Rubik"/>
              </a:rPr>
              <a:t>03</a:t>
            </a:r>
          </a:p>
        </p:txBody>
      </p:sp>
      <p:sp>
        <p:nvSpPr>
          <p:cNvPr id="4" name="eyebrow-3">
            <a:extLst xmlns:a="http://schemas.openxmlformats.org/drawingml/2006/main">
              <a:ext uri="{FF2B5EF4-FFF2-40B4-BE49-F238E27FC236}">
                <a16:creationId xmlns:a16="http://schemas.microsoft.com/office/drawing/2014/main" id="{96FAB976-20F0-4CD9-A5D7-5B6C587E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THEORY · 4 MIN</a:t>
            </a:r>
          </a:p>
        </p:txBody>
      </p:sp>
      <p:sp>
        <p:nvSpPr>
          <p:cNvPr id="5" name="move-1-panel">
            <a:extLst xmlns:a="http://schemas.openxmlformats.org/drawingml/2006/main">
              <a:ext uri="{FF2B5EF4-FFF2-40B4-BE49-F238E27FC236}">
                <a16:creationId xmlns:a16="http://schemas.microsoft.com/office/drawing/2014/main" id="{AC714D4D-9537-4861-AD11-444040BC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5623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ove-1-number">
            <a:extLst xmlns:a="http://schemas.openxmlformats.org/drawingml/2006/main">
              <a:ext uri="{FF2B5EF4-FFF2-40B4-BE49-F238E27FC236}">
                <a16:creationId xmlns:a16="http://schemas.microsoft.com/office/drawing/2014/main" id="{6D01AB5F-23EC-4706-9B4B-F160F8CE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22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01</a:t>
            </a:r>
          </a:p>
        </p:txBody>
      </p:sp>
      <p:sp>
        <p:nvSpPr>
          <p:cNvPr id="7" name="move-1-title">
            <a:extLst xmlns:a="http://schemas.openxmlformats.org/drawingml/2006/main">
              <a:ext uri="{FF2B5EF4-FFF2-40B4-BE49-F238E27FC236}">
                <a16:creationId xmlns:a16="http://schemas.microsoft.com/office/drawing/2014/main" id="{04A68EBE-E18B-4648-927F-34AE468C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3105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180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Pure decisions</a:t>
            </a:r>
          </a:p>
        </p:txBody>
      </p:sp>
      <p:sp>
        <p:nvSpPr>
          <p:cNvPr id="8" name="move-1-body">
            <a:extLst xmlns:a="http://schemas.openxmlformats.org/drawingml/2006/main">
              <a:ext uri="{FF2B5EF4-FFF2-40B4-BE49-F238E27FC236}">
                <a16:creationId xmlns:a16="http://schemas.microsoft.com/office/drawing/2014/main" id="{8B1B9E80-24F5-4F19-9573-3DF585DA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95650"/>
            <a:ext cx="3105150" cy="1847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Move calculations, permissions, validation, and status mapping outside framework code.</a:t>
            </a:r>
          </a:p>
        </p:txBody>
      </p:sp>
      <p:sp>
        <p:nvSpPr>
          <p:cNvPr id="9" name="move-2-panel">
            <a:extLst xmlns:a="http://schemas.openxmlformats.org/drawingml/2006/main">
              <a:ext uri="{FF2B5EF4-FFF2-40B4-BE49-F238E27FC236}">
                <a16:creationId xmlns:a16="http://schemas.microsoft.com/office/drawing/2014/main" id="{9D1DAFF2-D257-4F60-892B-9ECF8C4E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00250"/>
            <a:ext cx="35623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ove-2-number">
            <a:extLst xmlns:a="http://schemas.openxmlformats.org/drawingml/2006/main">
              <a:ext uri="{FF2B5EF4-FFF2-40B4-BE49-F238E27FC236}">
                <a16:creationId xmlns:a16="http://schemas.microsoft.com/office/drawing/2014/main" id="{D6BBB0ED-489E-47AE-A232-72290763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0980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22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02</a:t>
            </a:r>
          </a:p>
        </p:txBody>
      </p:sp>
      <p:sp>
        <p:nvSpPr>
          <p:cNvPr id="11" name="move-2-title">
            <a:extLst xmlns:a="http://schemas.openxmlformats.org/drawingml/2006/main">
              <a:ext uri="{FF2B5EF4-FFF2-40B4-BE49-F238E27FC236}">
                <a16:creationId xmlns:a16="http://schemas.microsoft.com/office/drawing/2014/main" id="{336C7032-D0D8-420B-9255-AD73BF35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743200"/>
            <a:ext cx="3105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180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Explicit dependencies</a:t>
            </a:r>
          </a:p>
        </p:txBody>
      </p:sp>
      <p:sp>
        <p:nvSpPr>
          <p:cNvPr id="12" name="move-2-body">
            <a:extLst xmlns:a="http://schemas.openxmlformats.org/drawingml/2006/main">
              <a:ext uri="{FF2B5EF4-FFF2-40B4-BE49-F238E27FC236}">
                <a16:creationId xmlns:a16="http://schemas.microsoft.com/office/drawing/2014/main" id="{C1A03616-2686-4999-8915-F843B331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95650"/>
            <a:ext cx="3105150" cy="1847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Pass repositories, gateways, time, and configuration into the code that needs them.</a:t>
            </a:r>
          </a:p>
        </p:txBody>
      </p:sp>
      <p:sp>
        <p:nvSpPr>
          <p:cNvPr id="13" name="move-3-panel">
            <a:extLst xmlns:a="http://schemas.openxmlformats.org/drawingml/2006/main">
              <a:ext uri="{FF2B5EF4-FFF2-40B4-BE49-F238E27FC236}">
                <a16:creationId xmlns:a16="http://schemas.microsoft.com/office/drawing/2014/main" id="{F1ED66B0-2C8C-4832-BD5D-D4B6E6BC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35623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ove-3-number">
            <a:extLst xmlns:a="http://schemas.openxmlformats.org/drawingml/2006/main">
              <a:ext uri="{FF2B5EF4-FFF2-40B4-BE49-F238E27FC236}">
                <a16:creationId xmlns:a16="http://schemas.microsoft.com/office/drawing/2014/main" id="{F25D333F-C45A-4FF3-BFC1-B153960B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0980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22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03</a:t>
            </a:r>
          </a:p>
        </p:txBody>
      </p:sp>
      <p:sp>
        <p:nvSpPr>
          <p:cNvPr id="15" name="move-3-title">
            <a:extLst xmlns:a="http://schemas.openxmlformats.org/drawingml/2006/main">
              <a:ext uri="{FF2B5EF4-FFF2-40B4-BE49-F238E27FC236}">
                <a16:creationId xmlns:a16="http://schemas.microsoft.com/office/drawing/2014/main" id="{19F01D9D-4831-4760-954F-228A4B3F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3105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180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Observable behavior</a:t>
            </a:r>
          </a:p>
        </p:txBody>
      </p:sp>
      <p:sp>
        <p:nvSpPr>
          <p:cNvPr id="16" name="move-3-body">
            <a:extLst xmlns:a="http://schemas.openxmlformats.org/drawingml/2006/main">
              <a:ext uri="{FF2B5EF4-FFF2-40B4-BE49-F238E27FC236}">
                <a16:creationId xmlns:a16="http://schemas.microsoft.com/office/drawing/2014/main" id="{3E90DA45-B878-4A6E-B89F-FF69A839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95650"/>
            <a:ext cx="3105150" cy="1847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Assert returned results, changed state, or visible UI—not private implementation details.</a:t>
            </a:r>
          </a:p>
        </p:txBody>
      </p:sp>
    </p:spTree>
    <p:extLst>
      <p:ext uri="{BB962C8B-B14F-4D97-AF65-F5344CB8AC3E}">
        <p14:creationId xmlns:p14="http://schemas.microsoft.com/office/powerpoint/2010/main" val="1806933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c2a6a291384a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BEB196F1-3849-48A5-AB4B-40905D20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One meeting feature will carry the whole lesson</a:t>
            </a:r>
          </a:p>
        </p:txBody>
      </p:sp>
      <p:cxnSp>
        <p:nvCxnSpPr>
          <p:cNvPr id="35" name="title-rule-4"/>
          <p:cNvCxnSpPr/>
          <p:nvPr/>
        </p:nvCxnSpPr>
        <p:spPr>
          <a:xfrm xmlns:a="http://schemas.openxmlformats.org/drawingml/2006/main">
            <a:off x="400050" y="14287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91AE"/>
            </a:solidFill>
            <a:prstDash val="solid"/>
          </a:ln>
        </p:spPr>
      </p:cxn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8F7A6F1E-E8FF-40D1-88C9-9063B8C6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3C91AE"/>
                </a:solidFill>
                <a:latin typeface="Rubik"/>
                <a:ea typeface="Rubik"/>
                <a:cs typeface="Rubik"/>
              </a:defRPr>
            </a:pPr>
            <a:r>
              <a:rPr sz="975" b="0">
                <a:solidFill>
                  <a:srgbClr val="3C91AE"/>
                </a:solidFill>
                <a:latin typeface="Rubik"/>
                <a:ea typeface="Rubik"/>
                <a:cs typeface="Rubik"/>
              </a:rPr>
              <a:t>04</a:t>
            </a:r>
          </a:p>
        </p:txBody>
      </p:sp>
      <p:sp>
        <p:nvSpPr>
          <p:cNvPr id="4" name="eyebrow-4">
            <a:extLst xmlns:a="http://schemas.openxmlformats.org/drawingml/2006/main">
              <a:ext uri="{FF2B5EF4-FFF2-40B4-BE49-F238E27FC236}">
                <a16:creationId xmlns:a16="http://schemas.microsoft.com/office/drawing/2014/main" id="{9608BD53-055F-44F6-A813-C5AA2C30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THEORY · 1 MIN</a:t>
            </a:r>
          </a:p>
        </p:txBody>
      </p:sp>
      <p:sp>
        <p:nvSpPr>
          <p:cNvPr id="5" name="scenario-lead">
            <a:extLst xmlns:a="http://schemas.openxmlformats.org/drawingml/2006/main">
              <a:ext uri="{FF2B5EF4-FFF2-40B4-BE49-F238E27FC236}">
                <a16:creationId xmlns:a16="http://schemas.microsoft.com/office/drawing/2014/main" id="{840FA282-50B9-4548-BF30-715B0159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8858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2250" b="1">
                <a:solidFill>
                  <a:srgbClr val="263A49"/>
                </a:solidFill>
                <a:latin typeface="Rubik"/>
                <a:ea typeface="Rubik"/>
                <a:cs typeface="Rubik"/>
              </a:rPr>
              <a:t>A meeting is still a draft. Who may publish it?</a:t>
            </a:r>
          </a:p>
        </p:txBody>
      </p:sp>
      <p:cxnSp>
        <p:nvCxnSpPr>
          <p:cNvPr id="39" name="scenario-flow-line"/>
          <p:cNvCxnSpPr/>
          <p:nvPr/>
        </p:nvCxnSpPr>
        <p:spPr>
          <a:xfrm xmlns:a="http://schemas.openxmlformats.org/drawingml/2006/main">
            <a:off x="876300" y="3638550"/>
            <a:ext cx="99060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8DBE2"/>
            </a:solidFill>
            <a:prstDash val="solid"/>
          </a:ln>
        </p:spPr>
      </p:cxnSp>
      <p:sp>
        <p:nvSpPr>
          <p:cNvPr id="7" name="scenario-dot-1">
            <a:extLst xmlns:a="http://schemas.openxmlformats.org/drawingml/2006/main">
              <a:ext uri="{FF2B5EF4-FFF2-40B4-BE49-F238E27FC236}">
                <a16:creationId xmlns:a16="http://schemas.microsoft.com/office/drawing/2014/main" id="{2D0413D2-ACB2-44C7-9535-20DA93F3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91AE"/>
          </a:solidFill>
          <a:ln xmlns:a="http://schemas.openxmlformats.org/drawingml/2006/main" w="9525">
            <a:solidFill>
              <a:srgbClr val="3C91AE"/>
            </a:solidFill>
            <a:prstDash val="solid"/>
          </a:ln>
        </p:spPr>
      </p:sp>
      <p:sp>
        <p:nvSpPr>
          <p:cNvPr id="8" name="scenario-dot-2">
            <a:extLst xmlns:a="http://schemas.openxmlformats.org/drawingml/2006/main">
              <a:ext uri="{FF2B5EF4-FFF2-40B4-BE49-F238E27FC236}">
                <a16:creationId xmlns:a16="http://schemas.microsoft.com/office/drawing/2014/main" id="{E5AD5464-F798-4135-872B-DB99C2F2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81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91AE"/>
          </a:solidFill>
          <a:ln xmlns:a="http://schemas.openxmlformats.org/drawingml/2006/main" w="9525">
            <a:solidFill>
              <a:srgbClr val="3C91AE"/>
            </a:solidFill>
            <a:prstDash val="solid"/>
          </a:ln>
        </p:spPr>
      </p:sp>
      <p:sp>
        <p:nvSpPr>
          <p:cNvPr id="9" name="scenario-dot-3">
            <a:extLst xmlns:a="http://schemas.openxmlformats.org/drawingml/2006/main">
              <a:ext uri="{FF2B5EF4-FFF2-40B4-BE49-F238E27FC236}">
                <a16:creationId xmlns:a16="http://schemas.microsoft.com/office/drawing/2014/main" id="{7E18086B-3A83-418E-B232-F252E45B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81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91AE"/>
          </a:solidFill>
          <a:ln xmlns:a="http://schemas.openxmlformats.org/drawingml/2006/main" w="9525">
            <a:solidFill>
              <a:srgbClr val="3C91AE"/>
            </a:solidFill>
            <a:prstDash val="solid"/>
          </a:ln>
        </p:spPr>
      </p:sp>
      <p:sp>
        <p:nvSpPr>
          <p:cNvPr id="10" name="scenario-dot-4">
            <a:extLst xmlns:a="http://schemas.openxmlformats.org/drawingml/2006/main">
              <a:ext uri="{FF2B5EF4-FFF2-40B4-BE49-F238E27FC236}">
                <a16:creationId xmlns:a16="http://schemas.microsoft.com/office/drawing/2014/main" id="{E6A6C32D-A55F-4B88-A737-FF7F3B94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581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91AE"/>
          </a:solidFill>
          <a:ln xmlns:a="http://schemas.openxmlformats.org/drawingml/2006/main" w="9525">
            <a:solidFill>
              <a:srgbClr val="3C91AE"/>
            </a:solidFill>
            <a:prstDash val="solid"/>
          </a:ln>
        </p:spPr>
      </p:sp>
      <p:sp>
        <p:nvSpPr>
          <p:cNvPr id="11" name="scenario-1">
            <a:extLst xmlns:a="http://schemas.openxmlformats.org/drawingml/2006/main">
              <a:ext uri="{FF2B5EF4-FFF2-40B4-BE49-F238E27FC236}">
                <a16:creationId xmlns:a16="http://schemas.microsoft.com/office/drawing/2014/main" id="{FDEAF1E3-5B87-4D90-B19D-3C20775A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1428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650" b="1">
                <a:solidFill>
                  <a:srgbClr val="263A49"/>
                </a:solidFill>
                <a:latin typeface="Rubik"/>
                <a:ea typeface="Rubik"/>
                <a:cs typeface="Rubik"/>
              </a:rPr>
              <a:t>API status</a:t>
            </a:r>
          </a:p>
        </p:txBody>
      </p:sp>
      <p:sp>
        <p:nvSpPr>
          <p:cNvPr id="12" name="scenario-2">
            <a:extLst xmlns:a="http://schemas.openxmlformats.org/drawingml/2006/main">
              <a:ext uri="{FF2B5EF4-FFF2-40B4-BE49-F238E27FC236}">
                <a16:creationId xmlns:a16="http://schemas.microsoft.com/office/drawing/2014/main" id="{B3397C8F-1F87-47DC-8660-A782A02B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76550"/>
            <a:ext cx="1619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650" b="1">
                <a:solidFill>
                  <a:srgbClr val="263A49"/>
                </a:solidFill>
                <a:latin typeface="Rubik"/>
                <a:ea typeface="Rubik"/>
                <a:cs typeface="Rubik"/>
              </a:rPr>
              <a:t>permission</a:t>
            </a:r>
          </a:p>
        </p:txBody>
      </p:sp>
      <p:sp>
        <p:nvSpPr>
          <p:cNvPr id="13" name="scenario-3">
            <a:extLst xmlns:a="http://schemas.openxmlformats.org/drawingml/2006/main">
              <a:ext uri="{FF2B5EF4-FFF2-40B4-BE49-F238E27FC236}">
                <a16:creationId xmlns:a16="http://schemas.microsoft.com/office/drawing/2014/main" id="{2694952D-5FE8-48CE-B9F4-44E2CE57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1619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650" b="1">
                <a:solidFill>
                  <a:srgbClr val="263A49"/>
                </a:solidFill>
                <a:latin typeface="Rubik"/>
                <a:ea typeface="Rubik"/>
                <a:cs typeface="Rubik"/>
              </a:rPr>
              <a:t>UI action</a:t>
            </a:r>
          </a:p>
        </p:txBody>
      </p:sp>
      <p:sp>
        <p:nvSpPr>
          <p:cNvPr id="14" name="scenario-4">
            <a:extLst xmlns:a="http://schemas.openxmlformats.org/drawingml/2006/main">
              <a:ext uri="{FF2B5EF4-FFF2-40B4-BE49-F238E27FC236}">
                <a16:creationId xmlns:a16="http://schemas.microsoft.com/office/drawing/2014/main" id="{A6DE58C5-8655-4E5A-BDE2-5D753771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76550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650" b="1">
                <a:solidFill>
                  <a:srgbClr val="263A49"/>
                </a:solidFill>
                <a:latin typeface="Rubik"/>
                <a:ea typeface="Rubik"/>
                <a:cs typeface="Rubik"/>
              </a:rPr>
              <a:t>backend decision</a:t>
            </a:r>
          </a:p>
        </p:txBody>
      </p:sp>
      <p:sp>
        <p:nvSpPr>
          <p:cNvPr id="15" name="scenario-detail-1">
            <a:extLst xmlns:a="http://schemas.openxmlformats.org/drawingml/2006/main">
              <a:ext uri="{FF2B5EF4-FFF2-40B4-BE49-F238E27FC236}">
                <a16:creationId xmlns:a16="http://schemas.microsoft.com/office/drawing/2014/main" id="{33DD12A0-ADF6-4F97-8084-59199BDF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62400"/>
            <a:ext cx="161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500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Draft</a:t>
            </a:r>
          </a:p>
        </p:txBody>
      </p:sp>
      <p:sp>
        <p:nvSpPr>
          <p:cNvPr id="16" name="scenario-detail-2">
            <a:extLst xmlns:a="http://schemas.openxmlformats.org/drawingml/2006/main">
              <a:ext uri="{FF2B5EF4-FFF2-40B4-BE49-F238E27FC236}">
                <a16:creationId xmlns:a16="http://schemas.microsoft.com/office/drawing/2014/main" id="{4AA8E804-A6C8-4006-A5EA-77442E3B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624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500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Organizer + manage</a:t>
            </a:r>
          </a:p>
        </p:txBody>
      </p:sp>
      <p:sp>
        <p:nvSpPr>
          <p:cNvPr id="17" name="scenario-detail-3">
            <a:extLst xmlns:a="http://schemas.openxmlformats.org/drawingml/2006/main">
              <a:ext uri="{FF2B5EF4-FFF2-40B4-BE49-F238E27FC236}">
                <a16:creationId xmlns:a16="http://schemas.microsoft.com/office/drawing/2014/main" id="{2C3FF519-F072-44E2-BEAC-5B17385B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62400"/>
            <a:ext cx="1714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500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Publish enabled</a:t>
            </a:r>
          </a:p>
        </p:txBody>
      </p:sp>
      <p:sp>
        <p:nvSpPr>
          <p:cNvPr id="18" name="scenario-detail-4">
            <a:extLst xmlns:a="http://schemas.openxmlformats.org/drawingml/2006/main">
              <a:ext uri="{FF2B5EF4-FFF2-40B4-BE49-F238E27FC236}">
                <a16:creationId xmlns:a16="http://schemas.microsoft.com/office/drawing/2014/main" id="{25694C58-0CF0-4B3F-B95D-F11FA611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624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500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Allow or reject</a:t>
            </a:r>
          </a:p>
        </p:txBody>
      </p:sp>
      <p:sp>
        <p:nvSpPr>
          <p:cNvPr id="19" name="scenario-bottom">
            <a:extLst xmlns:a="http://schemas.openxmlformats.org/drawingml/2006/main">
              <a:ext uri="{FF2B5EF4-FFF2-40B4-BE49-F238E27FC236}">
                <a16:creationId xmlns:a16="http://schemas.microsoft.com/office/drawing/2014/main" id="{E0ABBE1A-C87B-4190-981A-AEE27EF4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1391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80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The same rule-separation technique works on both sides of the API.</a:t>
            </a:r>
          </a:p>
        </p:txBody>
      </p:sp>
    </p:spTree>
    <p:extLst>
      <p:ext uri="{BB962C8B-B14F-4D97-AF65-F5344CB8AC3E}">
        <p14:creationId xmlns:p14="http://schemas.microsoft.com/office/powerpoint/2010/main" val="13306005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cc6f96df4845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D178782E-E7D7-4C5F-8FD9-C4B8FBBB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This component is making four decisions at once</a:t>
            </a:r>
          </a:p>
        </p:txBody>
      </p:sp>
      <p:cxnSp>
        <p:nvCxnSpPr>
          <p:cNvPr id="18" name="title-rule-5"/>
          <p:cNvCxnSpPr/>
          <p:nvPr/>
        </p:nvCxnSpPr>
        <p:spPr>
          <a:xfrm xmlns:a="http://schemas.openxmlformats.org/drawingml/2006/main">
            <a:off x="400050" y="14287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91AE"/>
            </a:solidFill>
            <a:prstDash val="solid"/>
          </a:ln>
        </p:spPr>
      </p:cxn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CA952D7F-48F4-4AC4-97FA-ADDC0819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3C91AE"/>
                </a:solidFill>
                <a:latin typeface="Rubik"/>
                <a:ea typeface="Rubik"/>
                <a:cs typeface="Rubik"/>
              </a:defRPr>
            </a:pPr>
            <a:r>
              <a:rPr sz="975" b="0">
                <a:solidFill>
                  <a:srgbClr val="3C91AE"/>
                </a:solidFill>
                <a:latin typeface="Rubik"/>
                <a:ea typeface="Rubik"/>
                <a:cs typeface="Rubik"/>
              </a:rPr>
              <a:t>05</a:t>
            </a:r>
          </a:p>
        </p:txBody>
      </p:sp>
      <p:sp>
        <p:nvSpPr>
          <p:cNvPr id="4" name="eyebrow-5">
            <a:extLst xmlns:a="http://schemas.openxmlformats.org/drawingml/2006/main">
              <a:ext uri="{FF2B5EF4-FFF2-40B4-BE49-F238E27FC236}">
                <a16:creationId xmlns:a16="http://schemas.microsoft.com/office/drawing/2014/main" id="{ECF880C4-7905-47C7-B692-EED3CFC1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REACT · BEFORE</a:t>
            </a:r>
          </a:p>
        </p:txBody>
      </p:sp>
      <p:sp>
        <p:nvSpPr>
          <p:cNvPr id="5" name="react-before-panel">
            <a:extLst xmlns:a="http://schemas.openxmlformats.org/drawingml/2006/main">
              <a:ext uri="{FF2B5EF4-FFF2-40B4-BE49-F238E27FC236}">
                <a16:creationId xmlns:a16="http://schemas.microsoft.com/office/drawing/2014/main" id="{DCD501EA-61A9-4DC5-8CDA-7303AD18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953250" cy="388620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act-before-accent">
            <a:extLst xmlns:a="http://schemas.openxmlformats.org/drawingml/2006/main">
              <a:ext uri="{FF2B5EF4-FFF2-40B4-BE49-F238E27FC236}">
                <a16:creationId xmlns:a16="http://schemas.microsoft.com/office/drawing/2014/main" id="{B837758A-DBFA-4CE4-BD05-662D80B7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CA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act-before-label">
            <a:extLst xmlns:a="http://schemas.openxmlformats.org/drawingml/2006/main">
              <a:ext uri="{FF2B5EF4-FFF2-40B4-BE49-F238E27FC236}">
                <a16:creationId xmlns:a16="http://schemas.microsoft.com/office/drawing/2014/main" id="{F1910BDE-6EA7-42F5-BC53-BDBA1764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6457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97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COMPONENT</a:t>
            </a:r>
          </a:p>
        </p:txBody>
      </p:sp>
      <p:sp>
        <p:nvSpPr>
          <p:cNvPr id="8" name="react-before-code">
            <a:extLst xmlns:a="http://schemas.openxmlformats.org/drawingml/2006/main">
              <a:ext uri="{FF2B5EF4-FFF2-40B4-BE49-F238E27FC236}">
                <a16:creationId xmlns:a16="http://schemas.microsoft.com/office/drawing/2014/main" id="{0FF44EF2-5509-4C78-BFFC-F357F8BD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6477000" cy="3409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225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002250"/>
                </a:solidFill>
                <a:latin typeface="Courier New"/>
                <a:ea typeface="Courier New"/>
                <a:cs typeface="Courier New"/>
              </a:rPr>
              <a:t>function MeetingRow({ meetingId, userRole, canManage }) {
  const [meeting, setMeeting] = useState(null);
  useEffect(() =&gt; {                    // 1  fetches itself
    fetch(`/api/meetings/${meetingId}`)
      .then(r =&gt; r.json()).then(setMeeting);
  }, [meetingId]);
  const badgeClass =                   // 2  status mapping
    meeting.status === "Published" ? "badge-published"
    : meeting.status === "Draft"   ? "badge-draft"
    :                                "badge-cancelled";
  return meeting.status === "Draft"    // 3  permission
    &amp;&amp; userRole !== "Viewer" &amp;&amp; canManage
    &amp;&amp; &lt;button onClick={handlePublish}&gt;Publish&lt;/button&gt;;
}</a:t>
            </a:r>
          </a:p>
        </p:txBody>
      </p:sp>
      <p:sp>
        <p:nvSpPr>
          <p:cNvPr id="9" name="react-before-side">
            <a:extLst xmlns:a="http://schemas.openxmlformats.org/drawingml/2006/main">
              <a:ext uri="{FF2B5EF4-FFF2-40B4-BE49-F238E27FC236}">
                <a16:creationId xmlns:a16="http://schemas.microsoft.com/office/drawing/2014/main" id="{6EC07EE5-06A0-4019-9DFF-0DED253F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314325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2100" b="1">
                <a:solidFill>
                  <a:srgbClr val="263A49"/>
                </a:solidFill>
                <a:latin typeface="Rubik"/>
                <a:ea typeface="Rubik"/>
                <a:cs typeface="Rubik"/>
              </a:rPr>
              <a:t>Data fetching
Status mapping
Permission checks
Rendering</a:t>
            </a:r>
          </a:p>
        </p:txBody>
      </p:sp>
      <p:sp>
        <p:nvSpPr>
          <p:cNvPr id="10" name="react-before-question">
            <a:extLst xmlns:a="http://schemas.openxmlformats.org/drawingml/2006/main">
              <a:ext uri="{FF2B5EF4-FFF2-40B4-BE49-F238E27FC236}">
                <a16:creationId xmlns:a16="http://schemas.microsoft.com/office/drawing/2014/main" id="{D6266757-8C74-4952-80F6-3D05D74D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4673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500" b="1">
                <a:solidFill>
                  <a:srgbClr val="263A49"/>
                </a:solidFill>
                <a:latin typeface="Rubik"/>
                <a:ea typeface="Rubik"/>
                <a:cs typeface="Rubik"/>
              </a:rPr>
              <a:t>Which part actually needs React?</a:t>
            </a:r>
          </a:p>
        </p:txBody>
      </p:sp>
    </p:spTree>
    <p:extLst>
      <p:ext uri="{BB962C8B-B14F-4D97-AF65-F5344CB8AC3E}">
        <p14:creationId xmlns:p14="http://schemas.microsoft.com/office/powerpoint/2010/main" val="19213774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1161c062f49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DE9A5648-E3A3-436F-A97F-43A32DAA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A resolver makes the decision plain TypeScript</a:t>
            </a:r>
          </a:p>
        </p:txBody>
      </p:sp>
      <p:cxnSp>
        <p:nvCxnSpPr>
          <p:cNvPr id="24" name="title-rule-6"/>
          <p:cNvCxnSpPr/>
          <p:nvPr/>
        </p:nvCxnSpPr>
        <p:spPr>
          <a:xfrm xmlns:a="http://schemas.openxmlformats.org/drawingml/2006/main">
            <a:off x="400050" y="14287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91AE"/>
            </a:solidFill>
            <a:prstDash val="solid"/>
          </a:ln>
        </p:spPr>
      </p:cxn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B51BEB99-7AC5-4304-8D46-214AD465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3C91AE"/>
                </a:solidFill>
                <a:latin typeface="Rubik"/>
                <a:ea typeface="Rubik"/>
                <a:cs typeface="Rubik"/>
              </a:defRPr>
            </a:pPr>
            <a:r>
              <a:rPr sz="975" b="0">
                <a:solidFill>
                  <a:srgbClr val="3C91AE"/>
                </a:solidFill>
                <a:latin typeface="Rubik"/>
                <a:ea typeface="Rubik"/>
                <a:cs typeface="Rubik"/>
              </a:rPr>
              <a:t>06</a:t>
            </a:r>
          </a:p>
        </p:txBody>
      </p:sp>
      <p:sp>
        <p:nvSpPr>
          <p:cNvPr id="4" name="eyebrow-6">
            <a:extLst xmlns:a="http://schemas.openxmlformats.org/drawingml/2006/main">
              <a:ext uri="{FF2B5EF4-FFF2-40B4-BE49-F238E27FC236}">
                <a16:creationId xmlns:a16="http://schemas.microsoft.com/office/drawing/2014/main" id="{A7814D94-85CF-455D-84E8-5D5CE9F8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REACT · REFACTOR</a:t>
            </a:r>
          </a:p>
        </p:txBody>
      </p:sp>
      <p:sp>
        <p:nvSpPr>
          <p:cNvPr id="5" name="resolver-code-panel">
            <a:extLst xmlns:a="http://schemas.openxmlformats.org/drawingml/2006/main">
              <a:ext uri="{FF2B5EF4-FFF2-40B4-BE49-F238E27FC236}">
                <a16:creationId xmlns:a16="http://schemas.microsoft.com/office/drawing/2014/main" id="{903A0725-0518-4053-8D79-FAC4AC47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953250" cy="388620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solver-code-accent">
            <a:extLst xmlns:a="http://schemas.openxmlformats.org/drawingml/2006/main">
              <a:ext uri="{FF2B5EF4-FFF2-40B4-BE49-F238E27FC236}">
                <a16:creationId xmlns:a16="http://schemas.microsoft.com/office/drawing/2014/main" id="{EBE7A921-43C7-42F4-81E2-B41ED824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CA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solver-code-label">
            <a:extLst xmlns:a="http://schemas.openxmlformats.org/drawingml/2006/main">
              <a:ext uri="{FF2B5EF4-FFF2-40B4-BE49-F238E27FC236}">
                <a16:creationId xmlns:a16="http://schemas.microsoft.com/office/drawing/2014/main" id="{F5BA4E30-967B-4465-9E49-1D255052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6457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2250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002250"/>
                </a:solidFill>
                <a:latin typeface="Courier New"/>
                <a:ea typeface="Courier New"/>
                <a:cs typeface="Courier New"/>
              </a:rPr>
              <a:t>RESOLVER / VIEW-MODEL BUILDER</a:t>
            </a:r>
          </a:p>
        </p:txBody>
      </p:sp>
      <p:sp>
        <p:nvSpPr>
          <p:cNvPr id="8" name="resolver-code-code">
            <a:extLst xmlns:a="http://schemas.openxmlformats.org/drawingml/2006/main">
              <a:ext uri="{FF2B5EF4-FFF2-40B4-BE49-F238E27FC236}">
                <a16:creationId xmlns:a16="http://schemas.microsoft.com/office/drawing/2014/main" id="{2E84B327-DA07-4A3C-A7E5-A56A31E4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6477000" cy="3409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225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002250"/>
                </a:solidFill>
                <a:latin typeface="Courier New"/>
                <a:ea typeface="Courier New"/>
                <a:cs typeface="Courier New"/>
              </a:rPr>
              <a:t>export function resolveMeetingRow(input: MeetingRowInput) {
  const { status, role, canManage } = input;
  if (status === "Published") return {
    statusLabel: "Published", badgeVariant: "published",
    canPublish: false, showRegistrations: true };
  if (status === "Draft") return {
    statusLabel: "Draft", badgeVariant: "draft",
    canPublish: role !== "Viewer" &amp;&amp; canManage,
    showRegistrations: false };
  return {
    statusLabel: "Cancelled", badgeVariant: "cancelled",
    canPublish: false, showRegistrations: false };
}</a:t>
            </a:r>
          </a:p>
        </p:txBody>
      </p:sp>
      <p:sp>
        <p:nvSpPr>
          <p:cNvPr id="9" name="resolver-input-box">
            <a:extLst xmlns:a="http://schemas.openxmlformats.org/drawingml/2006/main">
              <a:ext uri="{FF2B5EF4-FFF2-40B4-BE49-F238E27FC236}">
                <a16:creationId xmlns:a16="http://schemas.microsoft.com/office/drawing/2014/main" id="{1F18593F-2057-47E3-8894-9723F964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3429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solver-input-title">
            <a:extLst xmlns:a="http://schemas.openxmlformats.org/drawingml/2006/main">
              <a:ext uri="{FF2B5EF4-FFF2-40B4-BE49-F238E27FC236}">
                <a16:creationId xmlns:a16="http://schemas.microsoft.com/office/drawing/2014/main" id="{408BCE22-6A3F-4647-8BD0-1ECB846D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050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11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INPUT</a:t>
            </a:r>
          </a:p>
        </p:txBody>
      </p:sp>
      <p:sp>
        <p:nvSpPr>
          <p:cNvPr id="11" name="resolver-input-body">
            <a:extLst xmlns:a="http://schemas.openxmlformats.org/drawingml/2006/main">
              <a:ext uri="{FF2B5EF4-FFF2-40B4-BE49-F238E27FC236}">
                <a16:creationId xmlns:a16="http://schemas.microsoft.com/office/drawing/2014/main" id="{85B590E8-B2CF-44E2-926C-C43E9EC7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425" b="1">
                <a:solidFill>
                  <a:srgbClr val="263A49"/>
                </a:solidFill>
                <a:latin typeface="Rubik"/>
                <a:ea typeface="Rubik"/>
                <a:cs typeface="Rubik"/>
              </a:rPr>
              <a:t>status · role · canManage</a:t>
            </a:r>
          </a:p>
        </p:txBody>
      </p:sp>
      <p:sp>
        <p:nvSpPr>
          <p:cNvPr id="12" name="resolver-arrow">
            <a:extLst xmlns:a="http://schemas.openxmlformats.org/drawingml/2006/main">
              <a:ext uri="{FF2B5EF4-FFF2-40B4-BE49-F238E27FC236}">
                <a16:creationId xmlns:a16="http://schemas.microsoft.com/office/drawing/2014/main" id="{BAF3B26E-A50B-4BFB-9BDE-F906A32E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33750"/>
            <a:ext cx="571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5ACAE2"/>
                </a:solidFill>
                <a:latin typeface="Rubik Medium"/>
                <a:ea typeface="Rubik Medium"/>
                <a:cs typeface="Rubik Medium"/>
              </a:defRPr>
            </a:pPr>
            <a:r>
              <a:rPr sz="3150" b="1">
                <a:solidFill>
                  <a:srgbClr val="5ACAE2"/>
                </a:solidFill>
                <a:latin typeface="Rubik Medium"/>
                <a:ea typeface="Rubik Medium"/>
                <a:cs typeface="Rubik Medium"/>
              </a:rPr>
              <a:t>↓</a:t>
            </a:r>
          </a:p>
        </p:txBody>
      </p:sp>
      <p:sp>
        <p:nvSpPr>
          <p:cNvPr id="13" name="resolver-output-box">
            <a:extLst xmlns:a="http://schemas.openxmlformats.org/drawingml/2006/main">
              <a:ext uri="{FF2B5EF4-FFF2-40B4-BE49-F238E27FC236}">
                <a16:creationId xmlns:a16="http://schemas.microsoft.com/office/drawing/2014/main" id="{432F5292-4800-4817-BC16-B4E066B0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19550"/>
            <a:ext cx="34290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solver-output-title">
            <a:extLst xmlns:a="http://schemas.openxmlformats.org/drawingml/2006/main">
              <a:ext uri="{FF2B5EF4-FFF2-40B4-BE49-F238E27FC236}">
                <a16:creationId xmlns:a16="http://schemas.microsoft.com/office/drawing/2014/main" id="{5386F8DA-C0F4-4C9B-BC8E-74C9E8C4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11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OUTPUT</a:t>
            </a:r>
          </a:p>
        </p:txBody>
      </p:sp>
      <p:sp>
        <p:nvSpPr>
          <p:cNvPr id="15" name="resolver-output-body">
            <a:extLst xmlns:a="http://schemas.openxmlformats.org/drawingml/2006/main">
              <a:ext uri="{FF2B5EF4-FFF2-40B4-BE49-F238E27FC236}">
                <a16:creationId xmlns:a16="http://schemas.microsoft.com/office/drawing/2014/main" id="{8617AF29-5536-4F05-A4FE-4712B483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1010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650" b="1">
                <a:solidFill>
                  <a:srgbClr val="263A49"/>
                </a:solidFill>
                <a:latin typeface="Rubik"/>
                <a:ea typeface="Rubik"/>
                <a:cs typeface="Rubik"/>
              </a:rPr>
              <a:t>statusLabel · canPublish</a:t>
            </a:r>
          </a:p>
        </p:txBody>
      </p:sp>
      <p:sp>
        <p:nvSpPr>
          <p:cNvPr id="16" name="resolver-note">
            <a:extLst xmlns:a="http://schemas.openxmlformats.org/drawingml/2006/main">
              <a:ext uri="{FF2B5EF4-FFF2-40B4-BE49-F238E27FC236}">
                <a16:creationId xmlns:a16="http://schemas.microsoft.com/office/drawing/2014/main" id="{96D99852-F080-4B2C-B9AC-608FCC3D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600700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42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No JSX. No hooks. No fetch.</a:t>
            </a:r>
          </a:p>
        </p:txBody>
      </p:sp>
    </p:spTree>
    <p:extLst>
      <p:ext uri="{BB962C8B-B14F-4D97-AF65-F5344CB8AC3E}">
        <p14:creationId xmlns:p14="http://schemas.microsoft.com/office/powerpoint/2010/main" val="16896754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68981f7d64dc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B102FC0A-F2CB-4676-AE47-B7CC6EF3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A small test matrix reveals the real rule</a:t>
            </a:r>
          </a:p>
        </p:txBody>
      </p:sp>
      <p:cxnSp>
        <p:nvCxnSpPr>
          <p:cNvPr id="24" name="title-rule-7"/>
          <p:cNvCxnSpPr/>
          <p:nvPr/>
        </p:nvCxnSpPr>
        <p:spPr>
          <a:xfrm xmlns:a="http://schemas.openxmlformats.org/drawingml/2006/main">
            <a:off x="400050" y="14287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91AE"/>
            </a:solidFill>
            <a:prstDash val="solid"/>
          </a:ln>
        </p:spPr>
      </p:cxn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A5BC1834-F8D7-458D-B4F8-B032C9B6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3C91AE"/>
                </a:solidFill>
                <a:latin typeface="Rubik"/>
                <a:ea typeface="Rubik"/>
                <a:cs typeface="Rubik"/>
              </a:defRPr>
            </a:pPr>
            <a:r>
              <a:rPr sz="975" b="0">
                <a:solidFill>
                  <a:srgbClr val="3C91AE"/>
                </a:solidFill>
                <a:latin typeface="Rubik"/>
                <a:ea typeface="Rubik"/>
                <a:cs typeface="Rubik"/>
              </a:rPr>
              <a:t>07</a:t>
            </a:r>
          </a:p>
        </p:txBody>
      </p:sp>
      <p:sp>
        <p:nvSpPr>
          <p:cNvPr id="4" name="eyebrow-7">
            <a:extLst xmlns:a="http://schemas.openxmlformats.org/drawingml/2006/main">
              <a:ext uri="{FF2B5EF4-FFF2-40B4-BE49-F238E27FC236}">
                <a16:creationId xmlns:a16="http://schemas.microsoft.com/office/drawing/2014/main" id="{E1009ECE-F757-41F9-B6D4-7B0F091D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REACT · UNIT TEST</a:t>
            </a:r>
          </a:p>
        </p:txBody>
      </p:sp>
      <p:sp>
        <p:nvSpPr>
          <p:cNvPr id="5" name="resolver-test-panel">
            <a:extLst xmlns:a="http://schemas.openxmlformats.org/drawingml/2006/main">
              <a:ext uri="{FF2B5EF4-FFF2-40B4-BE49-F238E27FC236}">
                <a16:creationId xmlns:a16="http://schemas.microsoft.com/office/drawing/2014/main" id="{4C0AB372-1BF2-432F-9932-4A93397F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667500" cy="388620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solver-test-accent">
            <a:extLst xmlns:a="http://schemas.openxmlformats.org/drawingml/2006/main">
              <a:ext uri="{FF2B5EF4-FFF2-40B4-BE49-F238E27FC236}">
                <a16:creationId xmlns:a16="http://schemas.microsoft.com/office/drawing/2014/main" id="{42703E1D-3F8A-402F-B043-1DBFA303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CA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solver-test-label">
            <a:extLst xmlns:a="http://schemas.openxmlformats.org/drawingml/2006/main">
              <a:ext uri="{FF2B5EF4-FFF2-40B4-BE49-F238E27FC236}">
                <a16:creationId xmlns:a16="http://schemas.microsoft.com/office/drawing/2014/main" id="{D92E2E0B-2BCA-441C-8C8E-8918C835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6172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97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PARAMETERIZED TEST</a:t>
            </a:r>
          </a:p>
        </p:txBody>
      </p:sp>
      <p:sp>
        <p:nvSpPr>
          <p:cNvPr id="8" name="resolver-test-code">
            <a:extLst xmlns:a="http://schemas.openxmlformats.org/drawingml/2006/main">
              <a:ext uri="{FF2B5EF4-FFF2-40B4-BE49-F238E27FC236}">
                <a16:creationId xmlns:a16="http://schemas.microsoft.com/office/drawing/2014/main" id="{5857446E-BF36-4CFE-8A23-06DC43F3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6191250" cy="3409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225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002250"/>
                </a:solidFill>
                <a:latin typeface="Courier New"/>
                <a:ea typeface="Courier New"/>
                <a:cs typeface="Courier New"/>
              </a:rPr>
              <a:t>it.each([
  ["Draft",     "Admin",     true,  true ],
  ["Draft",     "Organizer", true,  true ],
  ["Draft",     "Viewer",    true,  false],
  ["Draft",     "Admin",     false, false],
  ["Published", "Admin",     true,  false],
  ["Cancelled", "Admin",     true,  false],
])("%s / %s", (status, role, canManage, expected) =&gt; {
  const result = resolveMeetingRow({
    status, registrationCount: 0, role, canManage });
  expect(result.canPublish).toBe(expected);
});</a:t>
            </a:r>
          </a:p>
        </p:txBody>
      </p:sp>
      <p:sp>
        <p:nvSpPr>
          <p:cNvPr id="9" name="matrix-title">
            <a:extLst xmlns:a="http://schemas.openxmlformats.org/drawingml/2006/main">
              <a:ext uri="{FF2B5EF4-FFF2-40B4-BE49-F238E27FC236}">
                <a16:creationId xmlns:a16="http://schemas.microsoft.com/office/drawing/2014/main" id="{7B07744D-FBC7-420F-9056-73BACE79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3619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165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Cases worth naming</a:t>
            </a:r>
          </a:p>
        </p:txBody>
      </p:sp>
      <p:sp>
        <p:nvSpPr>
          <p:cNvPr id="10" name="matrix-row-1">
            <a:extLst xmlns:a="http://schemas.openxmlformats.org/drawingml/2006/main">
              <a:ext uri="{FF2B5EF4-FFF2-40B4-BE49-F238E27FC236}">
                <a16:creationId xmlns:a16="http://schemas.microsoft.com/office/drawing/2014/main" id="{06A50040-D70A-460C-8B78-B545D0ED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3619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atrix-row-2">
            <a:extLst xmlns:a="http://schemas.openxmlformats.org/drawingml/2006/main">
              <a:ext uri="{FF2B5EF4-FFF2-40B4-BE49-F238E27FC236}">
                <a16:creationId xmlns:a16="http://schemas.microsoft.com/office/drawing/2014/main" id="{6EB00F50-A414-42E2-9B1B-014CBAF0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24250"/>
            <a:ext cx="3619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atrix-row-3">
            <a:extLst xmlns:a="http://schemas.openxmlformats.org/drawingml/2006/main">
              <a:ext uri="{FF2B5EF4-FFF2-40B4-BE49-F238E27FC236}">
                <a16:creationId xmlns:a16="http://schemas.microsoft.com/office/drawing/2014/main" id="{1447A2BD-EF4C-418C-B9D9-D265D346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3619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atrix-1">
            <a:extLst xmlns:a="http://schemas.openxmlformats.org/drawingml/2006/main">
              <a:ext uri="{FF2B5EF4-FFF2-40B4-BE49-F238E27FC236}">
                <a16:creationId xmlns:a16="http://schemas.microsoft.com/office/drawing/2014/main" id="{088E7A04-0CDE-46FD-A952-DCDD0C8F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19400"/>
            <a:ext cx="3162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350" b="1">
                <a:solidFill>
                  <a:srgbClr val="263A49"/>
                </a:solidFill>
                <a:latin typeface="Rubik"/>
                <a:ea typeface="Rubik"/>
                <a:cs typeface="Rubik"/>
              </a:rPr>
              <a:t>Draft + Admin  →  Publish</a:t>
            </a:r>
          </a:p>
        </p:txBody>
      </p:sp>
      <p:sp>
        <p:nvSpPr>
          <p:cNvPr id="14" name="matrix-2">
            <a:extLst xmlns:a="http://schemas.openxmlformats.org/drawingml/2006/main">
              <a:ext uri="{FF2B5EF4-FFF2-40B4-BE49-F238E27FC236}">
                <a16:creationId xmlns:a16="http://schemas.microsoft.com/office/drawing/2014/main" id="{3E4AFEB6-E7E9-48B1-BB76-CFD960CA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71900"/>
            <a:ext cx="3162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350" b="1">
                <a:solidFill>
                  <a:srgbClr val="263A49"/>
                </a:solidFill>
                <a:latin typeface="Rubik"/>
                <a:ea typeface="Rubik"/>
                <a:cs typeface="Rubik"/>
              </a:rPr>
              <a:t>Draft + Viewer  →  No publish</a:t>
            </a:r>
          </a:p>
        </p:txBody>
      </p:sp>
      <p:sp>
        <p:nvSpPr>
          <p:cNvPr id="15" name="matrix-3">
            <a:extLst xmlns:a="http://schemas.openxmlformats.org/drawingml/2006/main">
              <a:ext uri="{FF2B5EF4-FFF2-40B4-BE49-F238E27FC236}">
                <a16:creationId xmlns:a16="http://schemas.microsoft.com/office/drawing/2014/main" id="{7E878EA5-7907-4202-B842-0F4D6E12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24400"/>
            <a:ext cx="3162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350" b="1">
                <a:solidFill>
                  <a:srgbClr val="263A49"/>
                </a:solidFill>
                <a:latin typeface="Rubik"/>
                <a:ea typeface="Rubik"/>
                <a:cs typeface="Rubik"/>
              </a:rPr>
              <a:t>Published  →  No publish</a:t>
            </a:r>
          </a:p>
        </p:txBody>
      </p:sp>
      <p:sp>
        <p:nvSpPr>
          <p:cNvPr id="16" name="matrix-note">
            <a:extLst xmlns:a="http://schemas.openxmlformats.org/drawingml/2006/main">
              <a:ext uri="{FF2B5EF4-FFF2-40B4-BE49-F238E27FC236}">
                <a16:creationId xmlns:a16="http://schemas.microsoft.com/office/drawing/2014/main" id="{793471BC-0FDB-44A1-A187-E47A364A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62600"/>
            <a:ext cx="361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3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The matrix is documentation for the rule.</a:t>
            </a:r>
          </a:p>
        </p:txBody>
      </p:sp>
    </p:spTree>
    <p:extLst>
      <p:ext uri="{BB962C8B-B14F-4D97-AF65-F5344CB8AC3E}">
        <p14:creationId xmlns:p14="http://schemas.microsoft.com/office/powerpoint/2010/main" val="15162136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1a01a316a4f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A6FEF118-174D-4E9A-9199-9C705EAC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Keep one UI test for behavior the user can observe</a:t>
            </a:r>
          </a:p>
        </p:txBody>
      </p:sp>
      <p:cxnSp>
        <p:nvCxnSpPr>
          <p:cNvPr id="23" name="title-rule-8"/>
          <p:cNvCxnSpPr/>
          <p:nvPr/>
        </p:nvCxnSpPr>
        <p:spPr>
          <a:xfrm xmlns:a="http://schemas.openxmlformats.org/drawingml/2006/main">
            <a:off x="400050" y="14287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91AE"/>
            </a:solidFill>
            <a:prstDash val="solid"/>
          </a:ln>
        </p:spPr>
      </p:cxn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3F946529-7009-4E62-81B6-3FEE0A23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3C91AE"/>
                </a:solidFill>
                <a:latin typeface="Rubik"/>
                <a:ea typeface="Rubik"/>
                <a:cs typeface="Rubik"/>
              </a:defRPr>
            </a:pPr>
            <a:r>
              <a:rPr sz="975" b="0">
                <a:solidFill>
                  <a:srgbClr val="3C91AE"/>
                </a:solidFill>
                <a:latin typeface="Rubik"/>
                <a:ea typeface="Rubik"/>
                <a:cs typeface="Rubik"/>
              </a:rPr>
              <a:t>08</a:t>
            </a:r>
          </a:p>
        </p:txBody>
      </p:sp>
      <p:sp>
        <p:nvSpPr>
          <p:cNvPr id="4" name="eyebrow-8">
            <a:extLst xmlns:a="http://schemas.openxmlformats.org/drawingml/2006/main">
              <a:ext uri="{FF2B5EF4-FFF2-40B4-BE49-F238E27FC236}">
                <a16:creationId xmlns:a16="http://schemas.microsoft.com/office/drawing/2014/main" id="{85B237CF-E798-4C43-8E3E-340B4616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REACT · COMPONENT TEST</a:t>
            </a:r>
          </a:p>
        </p:txBody>
      </p:sp>
      <p:sp>
        <p:nvSpPr>
          <p:cNvPr id="5" name="rtl-test-panel">
            <a:extLst xmlns:a="http://schemas.openxmlformats.org/drawingml/2006/main">
              <a:ext uri="{FF2B5EF4-FFF2-40B4-BE49-F238E27FC236}">
                <a16:creationId xmlns:a16="http://schemas.microsoft.com/office/drawing/2014/main" id="{4C9E7F47-12EA-4410-9CE3-A732E172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71247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tl-test-accent">
            <a:extLst xmlns:a="http://schemas.openxmlformats.org/drawingml/2006/main">
              <a:ext uri="{FF2B5EF4-FFF2-40B4-BE49-F238E27FC236}">
                <a16:creationId xmlns:a16="http://schemas.microsoft.com/office/drawing/2014/main" id="{D04ECC5A-7EF6-4EFA-96AA-3667BB05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76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CA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tl-test-label">
            <a:extLst xmlns:a="http://schemas.openxmlformats.org/drawingml/2006/main">
              <a:ext uri="{FF2B5EF4-FFF2-40B4-BE49-F238E27FC236}">
                <a16:creationId xmlns:a16="http://schemas.microsoft.com/office/drawing/2014/main" id="{1FD8D032-7EB2-4782-9FB7-B617C90A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6629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97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REACT TESTING LIBRARY</a:t>
            </a:r>
          </a:p>
        </p:txBody>
      </p:sp>
      <p:sp>
        <p:nvSpPr>
          <p:cNvPr id="8" name="rtl-test-code">
            <a:extLst xmlns:a="http://schemas.openxmlformats.org/drawingml/2006/main">
              <a:ext uri="{FF2B5EF4-FFF2-40B4-BE49-F238E27FC236}">
                <a16:creationId xmlns:a16="http://schemas.microsoft.com/office/drawing/2014/main" id="{9B08C37A-41B6-4C96-878E-248CC9E2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90775"/>
            <a:ext cx="6648450" cy="27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2250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002250"/>
                </a:solidFill>
                <a:latin typeface="Courier New"/>
                <a:ea typeface="Courier New"/>
                <a:cs typeface="Courier New"/>
              </a:rPr>
              <a:t>render(&lt;MeetingRow status="Draft" role="Admin"
  canManage onPublish={onPublish} … /&gt;);
await user.click(
  screen.getByRole("button", { name: /publish/i }));
expect(onPublish).toHaveBeenCalledOnce();
expect(screen.getByText("Publishing…")).toBeVisible();
expect(screen.queryByRole("button",
  { name: /publish/i })).not.toBeInTheDocument();</a:t>
            </a:r>
          </a:p>
        </p:txBody>
      </p:sp>
      <p:sp>
        <p:nvSpPr>
          <p:cNvPr id="9" name="rtl-principle-1">
            <a:extLst xmlns:a="http://schemas.openxmlformats.org/drawingml/2006/main">
              <a:ext uri="{FF2B5EF4-FFF2-40B4-BE49-F238E27FC236}">
                <a16:creationId xmlns:a16="http://schemas.microsoft.com/office/drawing/2014/main" id="{209ED94E-15C6-4DC1-BC20-2DF37A78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19300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875" b="1">
                <a:solidFill>
                  <a:srgbClr val="263A49"/>
                </a:solidFill>
                <a:latin typeface="Rubik"/>
                <a:ea typeface="Rubik"/>
                <a:cs typeface="Rubik"/>
              </a:rPr>
              <a:t>Query by role</a:t>
            </a:r>
          </a:p>
        </p:txBody>
      </p:sp>
      <p:sp>
        <p:nvSpPr>
          <p:cNvPr id="10" name="rtl-detail-1">
            <a:extLst xmlns:a="http://schemas.openxmlformats.org/drawingml/2006/main">
              <a:ext uri="{FF2B5EF4-FFF2-40B4-BE49-F238E27FC236}">
                <a16:creationId xmlns:a16="http://schemas.microsoft.com/office/drawing/2014/main" id="{DCEC51D0-58A4-4B6A-BE9C-98D1F6B1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2952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Uses the same semantics as the user.</a:t>
            </a:r>
          </a:p>
        </p:txBody>
      </p:sp>
      <p:sp>
        <p:nvSpPr>
          <p:cNvPr id="11" name="rtl-principle-2">
            <a:extLst xmlns:a="http://schemas.openxmlformats.org/drawingml/2006/main">
              <a:ext uri="{FF2B5EF4-FFF2-40B4-BE49-F238E27FC236}">
                <a16:creationId xmlns:a16="http://schemas.microsoft.com/office/drawing/2014/main" id="{843CE14C-C39D-40D5-BAF7-A03A25F3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19450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875" b="1">
                <a:solidFill>
                  <a:srgbClr val="263A49"/>
                </a:solidFill>
                <a:latin typeface="Rubik"/>
                <a:ea typeface="Rubik"/>
                <a:cs typeface="Rubik"/>
              </a:rPr>
              <a:t>Interact like a user</a:t>
            </a:r>
          </a:p>
        </p:txBody>
      </p:sp>
      <p:sp>
        <p:nvSpPr>
          <p:cNvPr id="12" name="rtl-detail-2">
            <a:extLst xmlns:a="http://schemas.openxmlformats.org/drawingml/2006/main">
              <a:ext uri="{FF2B5EF4-FFF2-40B4-BE49-F238E27FC236}">
                <a16:creationId xmlns:a16="http://schemas.microsoft.com/office/drawing/2014/main" id="{8841E464-691D-45D3-8A17-D9907486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57600"/>
            <a:ext cx="2952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Prefer userEvent over calling handlers.</a:t>
            </a:r>
          </a:p>
        </p:txBody>
      </p:sp>
      <p:sp>
        <p:nvSpPr>
          <p:cNvPr id="13" name="rtl-principle-3">
            <a:extLst xmlns:a="http://schemas.openxmlformats.org/drawingml/2006/main">
              <a:ext uri="{FF2B5EF4-FFF2-40B4-BE49-F238E27FC236}">
                <a16:creationId xmlns:a16="http://schemas.microsoft.com/office/drawing/2014/main" id="{F46084B6-3D2E-46B7-A651-D7257FC5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1960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875" b="1">
                <a:solidFill>
                  <a:srgbClr val="263A49"/>
                </a:solidFill>
                <a:latin typeface="Rubik"/>
                <a:ea typeface="Rubik"/>
                <a:cs typeface="Rubik"/>
              </a:rPr>
              <a:t>Effects arrive as props</a:t>
            </a:r>
          </a:p>
        </p:txBody>
      </p:sp>
      <p:sp>
        <p:nvSpPr>
          <p:cNvPr id="14" name="rtl-detail-3">
            <a:extLst xmlns:a="http://schemas.openxmlformats.org/drawingml/2006/main">
              <a:ext uri="{FF2B5EF4-FFF2-40B4-BE49-F238E27FC236}">
                <a16:creationId xmlns:a16="http://schemas.microsoft.com/office/drawing/2014/main" id="{7216671C-501B-47A3-B8A9-EF66483F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57750"/>
            <a:ext cx="2952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onPublish is a prop, not a fetch.</a:t>
            </a:r>
          </a:p>
        </p:txBody>
      </p:sp>
      <p:sp>
        <p:nvSpPr>
          <p:cNvPr id="15" name="rtl-footer">
            <a:extLst xmlns:a="http://schemas.openxmlformats.org/drawingml/2006/main">
              <a:ext uri="{FF2B5EF4-FFF2-40B4-BE49-F238E27FC236}">
                <a16:creationId xmlns:a16="http://schemas.microsoft.com/office/drawing/2014/main" id="{9D1027F7-5696-4C32-A03B-59991402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53050"/>
            <a:ext cx="7124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575" b="1">
                <a:solidFill>
                  <a:srgbClr val="263A49"/>
                </a:solidFill>
                <a:latin typeface="Rubik"/>
                <a:ea typeface="Rubik"/>
                <a:cs typeface="Rubik"/>
              </a:rPr>
              <a:t>Do not re-test every resolver branch through the DOM.</a:t>
            </a:r>
          </a:p>
        </p:txBody>
      </p:sp>
    </p:spTree>
    <p:extLst>
      <p:ext uri="{BB962C8B-B14F-4D97-AF65-F5344CB8AC3E}">
        <p14:creationId xmlns:p14="http://schemas.microsoft.com/office/powerpoint/2010/main" val="10391936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5936d79d046b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1DD7447B-B36C-4BCC-AB51-F052823D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A small backend rule is trapped behind three effects</a:t>
            </a:r>
          </a:p>
        </p:txBody>
      </p:sp>
      <p:cxnSp>
        <p:nvCxnSpPr>
          <p:cNvPr id="24" name="title-rule-9"/>
          <p:cNvCxnSpPr/>
          <p:nvPr/>
        </p:nvCxnSpPr>
        <p:spPr>
          <a:xfrm xmlns:a="http://schemas.openxmlformats.org/drawingml/2006/main">
            <a:off x="400050" y="14287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91AE"/>
            </a:solidFill>
            <a:prstDash val="solid"/>
          </a:ln>
        </p:spPr>
      </p:cxn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266C2923-F951-40D9-853A-AAD86658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3C91AE"/>
                </a:solidFill>
                <a:latin typeface="Rubik"/>
                <a:ea typeface="Rubik"/>
                <a:cs typeface="Rubik"/>
              </a:defRPr>
            </a:pPr>
            <a:r>
              <a:rPr sz="975" b="0">
                <a:solidFill>
                  <a:srgbClr val="3C91AE"/>
                </a:solidFill>
                <a:latin typeface="Rubik"/>
                <a:ea typeface="Rubik"/>
                <a:cs typeface="Rubik"/>
              </a:rPr>
              <a:t>09</a:t>
            </a:r>
          </a:p>
        </p:txBody>
      </p:sp>
      <p:sp>
        <p:nvSpPr>
          <p:cNvPr id="4" name="eyebrow-9">
            <a:extLst xmlns:a="http://schemas.openxmlformats.org/drawingml/2006/main">
              <a:ext uri="{FF2B5EF4-FFF2-40B4-BE49-F238E27FC236}">
                <a16:creationId xmlns:a16="http://schemas.microsoft.com/office/drawing/2014/main" id="{CC4B65E8-9C31-4C62-90F6-F8D41CB5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C# · BEFORE</a:t>
            </a:r>
          </a:p>
        </p:txBody>
      </p:sp>
      <p:sp>
        <p:nvSpPr>
          <p:cNvPr id="5" name="csharp-before-panel">
            <a:extLst xmlns:a="http://schemas.openxmlformats.org/drawingml/2006/main">
              <a:ext uri="{FF2B5EF4-FFF2-40B4-BE49-F238E27FC236}">
                <a16:creationId xmlns:a16="http://schemas.microsoft.com/office/drawing/2014/main" id="{040A69E0-A100-439D-BF47-BCE7098D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239000" cy="388620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sharp-before-accent">
            <a:extLst xmlns:a="http://schemas.openxmlformats.org/drawingml/2006/main">
              <a:ext uri="{FF2B5EF4-FFF2-40B4-BE49-F238E27FC236}">
                <a16:creationId xmlns:a16="http://schemas.microsoft.com/office/drawing/2014/main" id="{0B6CA918-E862-4813-BC54-98A0757E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CA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sharp-before-label">
            <a:extLst xmlns:a="http://schemas.openxmlformats.org/drawingml/2006/main">
              <a:ext uri="{FF2B5EF4-FFF2-40B4-BE49-F238E27FC236}">
                <a16:creationId xmlns:a16="http://schemas.microsoft.com/office/drawing/2014/main" id="{81AE7C03-A59F-408F-8685-4234542D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6743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97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SERVICE</a:t>
            </a:r>
          </a:p>
        </p:txBody>
      </p:sp>
      <p:sp>
        <p:nvSpPr>
          <p:cNvPr id="8" name="csharp-before-code">
            <a:extLst xmlns:a="http://schemas.openxmlformats.org/drawingml/2006/main">
              <a:ext uri="{FF2B5EF4-FFF2-40B4-BE49-F238E27FC236}">
                <a16:creationId xmlns:a16="http://schemas.microsoft.com/office/drawing/2014/main" id="{D908E553-B463-41D5-B00D-B59F9EAC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6762750" cy="3409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225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002250"/>
                </a:solidFill>
                <a:latin typeface="Courier New"/>
                <a:ea typeface="Courier New"/>
                <a:cs typeface="Courier New"/>
              </a:rPr>
              <a:t>public async Task&lt;string&gt; RegisterAsync(Guid meetingId, …)
{
    var db = new MeetingFlowDb("Server=prod-db;…");
    var meeting = await db.GetMeetingAsync(meetingId)
        ?? throw new InvalidOperationException("Not found");
    if (meeting.Status != "Published")
        throw new InvalidOperationException("Not open");
    if (meeting.RegistrationCount &gt;= meeting.VenueCapacity)
        throw new InvalidOperationException("Meeting is full");
    var registeredAt = DateTimeOffset.UtcNow;
    await db.SaveRegistrationAsync(meetingId, …, registeredAt);
    using var http = new HttpClient();
    await http.PostAsync("https://notifications.internal/…");
}</a:t>
            </a:r>
          </a:p>
        </p:txBody>
      </p:sp>
      <p:sp>
        <p:nvSpPr>
          <p:cNvPr id="9" name="hidden-title">
            <a:extLst xmlns:a="http://schemas.openxmlformats.org/drawingml/2006/main">
              <a:ext uri="{FF2B5EF4-FFF2-40B4-BE49-F238E27FC236}">
                <a16:creationId xmlns:a16="http://schemas.microsoft.com/office/drawing/2014/main" id="{60CDDFF0-CF97-4791-A11C-180D56C6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180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Hidden inputs</a:t>
            </a:r>
          </a:p>
        </p:txBody>
      </p:sp>
      <p:sp>
        <p:nvSpPr>
          <p:cNvPr id="10" name="hidden-1">
            <a:extLst xmlns:a="http://schemas.openxmlformats.org/drawingml/2006/main">
              <a:ext uri="{FF2B5EF4-FFF2-40B4-BE49-F238E27FC236}">
                <a16:creationId xmlns:a16="http://schemas.microsoft.com/office/drawing/2014/main" id="{CAF098F0-AE1D-4600-AE7F-F5842992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09850"/>
            <a:ext cx="3143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idden-2">
            <a:extLst xmlns:a="http://schemas.openxmlformats.org/drawingml/2006/main">
              <a:ext uri="{FF2B5EF4-FFF2-40B4-BE49-F238E27FC236}">
                <a16:creationId xmlns:a16="http://schemas.microsoft.com/office/drawing/2014/main" id="{527AA382-7A66-40C0-A6C7-EF01ABE2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3143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idden-3">
            <a:extLst xmlns:a="http://schemas.openxmlformats.org/drawingml/2006/main">
              <a:ext uri="{FF2B5EF4-FFF2-40B4-BE49-F238E27FC236}">
                <a16:creationId xmlns:a16="http://schemas.microsoft.com/office/drawing/2014/main" id="{C95446DF-652B-4C57-AE30-CECAE412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38650"/>
            <a:ext cx="3143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idden-1-text">
            <a:extLst xmlns:a="http://schemas.openxmlformats.org/drawingml/2006/main">
              <a:ext uri="{FF2B5EF4-FFF2-40B4-BE49-F238E27FC236}">
                <a16:creationId xmlns:a16="http://schemas.microsoft.com/office/drawing/2014/main" id="{1F19CB5C-21C4-4EAD-8EA1-F65DD45B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38450"/>
            <a:ext cx="268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350" b="1">
                <a:solidFill>
                  <a:srgbClr val="263A49"/>
                </a:solidFill>
                <a:latin typeface="Rubik"/>
                <a:ea typeface="Rubik"/>
                <a:cs typeface="Rubik"/>
              </a:rPr>
              <a:t>new MeetingFlowDb(…)</a:t>
            </a:r>
          </a:p>
        </p:txBody>
      </p:sp>
      <p:sp>
        <p:nvSpPr>
          <p:cNvPr id="14" name="hidden-2-text">
            <a:extLst xmlns:a="http://schemas.openxmlformats.org/drawingml/2006/main">
              <a:ext uri="{FF2B5EF4-FFF2-40B4-BE49-F238E27FC236}">
                <a16:creationId xmlns:a16="http://schemas.microsoft.com/office/drawing/2014/main" id="{8FD174AF-BE2F-417B-85C2-511CBAA9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52850"/>
            <a:ext cx="268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350" b="1">
                <a:solidFill>
                  <a:srgbClr val="263A49"/>
                </a:solidFill>
                <a:latin typeface="Rubik"/>
                <a:ea typeface="Rubik"/>
                <a:cs typeface="Rubik"/>
              </a:rPr>
              <a:t>new HttpClient()</a:t>
            </a:r>
          </a:p>
        </p:txBody>
      </p:sp>
      <p:sp>
        <p:nvSpPr>
          <p:cNvPr id="15" name="hidden-3-text">
            <a:extLst xmlns:a="http://schemas.openxmlformats.org/drawingml/2006/main">
              <a:ext uri="{FF2B5EF4-FFF2-40B4-BE49-F238E27FC236}">
                <a16:creationId xmlns:a16="http://schemas.microsoft.com/office/drawing/2014/main" id="{78379424-3CA4-48FE-93D9-9C8A20CE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67250"/>
            <a:ext cx="268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350" b="1">
                <a:solidFill>
                  <a:srgbClr val="263A49"/>
                </a:solidFill>
                <a:latin typeface="Rubik"/>
                <a:ea typeface="Rubik"/>
                <a:cs typeface="Rubik"/>
              </a:rPr>
              <a:t>DateTimeOffset.UtcNow</a:t>
            </a:r>
          </a:p>
        </p:txBody>
      </p:sp>
      <p:sp>
        <p:nvSpPr>
          <p:cNvPr id="16" name="hidden-note">
            <a:extLst xmlns:a="http://schemas.openxmlformats.org/drawingml/2006/main">
              <a:ext uri="{FF2B5EF4-FFF2-40B4-BE49-F238E27FC236}">
                <a16:creationId xmlns:a16="http://schemas.microsoft.com/office/drawing/2014/main" id="{0378061E-61E7-4C8D-8387-800FA52D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2450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6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42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The rule needs none of them.</a:t>
            </a:r>
          </a:p>
        </p:txBody>
      </p:sp>
    </p:spTree>
    <p:extLst>
      <p:ext uri="{BB962C8B-B14F-4D97-AF65-F5344CB8AC3E}">
        <p14:creationId xmlns:p14="http://schemas.microsoft.com/office/powerpoint/2010/main" val="873261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eee315f1a43b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E51CDA1C-0713-446D-BF5C-F9329C40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Put rules in the core and inject effects at the edge</a:t>
            </a:r>
          </a:p>
        </p:txBody>
      </p:sp>
      <p:cxnSp>
        <p:nvCxnSpPr>
          <p:cNvPr id="21" name="title-rule-10"/>
          <p:cNvCxnSpPr/>
          <p:nvPr/>
        </p:nvCxnSpPr>
        <p:spPr>
          <a:xfrm xmlns:a="http://schemas.openxmlformats.org/drawingml/2006/main">
            <a:off x="400050" y="14287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91AE"/>
            </a:solidFill>
            <a:prstDash val="solid"/>
          </a:ln>
        </p:spPr>
      </p:cxn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A294649B-B020-4113-8E03-331C502D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3C91AE"/>
                </a:solidFill>
                <a:latin typeface="Rubik"/>
                <a:ea typeface="Rubik"/>
                <a:cs typeface="Rubik"/>
              </a:defRPr>
            </a:pPr>
            <a:r>
              <a:rPr sz="975" b="0">
                <a:solidFill>
                  <a:srgbClr val="3C91AE"/>
                </a:solidFill>
                <a:latin typeface="Rubik"/>
                <a:ea typeface="Rubik"/>
                <a:cs typeface="Rubik"/>
              </a:rPr>
              <a:t>10</a:t>
            </a:r>
          </a:p>
        </p:txBody>
      </p:sp>
      <p:sp>
        <p:nvSpPr>
          <p:cNvPr id="4" name="eyebrow-10">
            <a:extLst xmlns:a="http://schemas.openxmlformats.org/drawingml/2006/main">
              <a:ext uri="{FF2B5EF4-FFF2-40B4-BE49-F238E27FC236}">
                <a16:creationId xmlns:a16="http://schemas.microsoft.com/office/drawing/2014/main" id="{88190CDF-8056-446E-BCCF-226BCD05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C# · REFACTOR</a:t>
            </a:r>
          </a:p>
        </p:txBody>
      </p:sp>
      <p:sp>
        <p:nvSpPr>
          <p:cNvPr id="5" name="pure-rule-panel">
            <a:extLst xmlns:a="http://schemas.openxmlformats.org/drawingml/2006/main">
              <a:ext uri="{FF2B5EF4-FFF2-40B4-BE49-F238E27FC236}">
                <a16:creationId xmlns:a16="http://schemas.microsoft.com/office/drawing/2014/main" id="{71D89796-BA14-40F3-A9C2-916D0D06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6610350" cy="39052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ure-rule-accent">
            <a:extLst xmlns:a="http://schemas.openxmlformats.org/drawingml/2006/main">
              <a:ext uri="{FF2B5EF4-FFF2-40B4-BE49-F238E27FC236}">
                <a16:creationId xmlns:a16="http://schemas.microsoft.com/office/drawing/2014/main" id="{D1C1DE8B-D217-409A-B9D3-4278A66F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CA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ure-rule-label">
            <a:extLst xmlns:a="http://schemas.openxmlformats.org/drawingml/2006/main">
              <a:ext uri="{FF2B5EF4-FFF2-40B4-BE49-F238E27FC236}">
                <a16:creationId xmlns:a16="http://schemas.microsoft.com/office/drawing/2014/main" id="{1284E45B-0226-42B6-80F6-35FF407E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6115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97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FUNCTIONAL CORE</a:t>
            </a:r>
          </a:p>
        </p:txBody>
      </p:sp>
      <p:sp>
        <p:nvSpPr>
          <p:cNvPr id="8" name="pure-rule-code">
            <a:extLst xmlns:a="http://schemas.openxmlformats.org/drawingml/2006/main">
              <a:ext uri="{FF2B5EF4-FFF2-40B4-BE49-F238E27FC236}">
                <a16:creationId xmlns:a16="http://schemas.microsoft.com/office/drawing/2014/main" id="{E7EE7637-D138-46EE-8FF0-D2F744A1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14575"/>
            <a:ext cx="6134100" cy="3409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225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002250"/>
                </a:solidFill>
                <a:latin typeface="Courier New"/>
                <a:ea typeface="Courier New"/>
                <a:cs typeface="Courier New"/>
              </a:rPr>
              <a:t>public static class RegistrationRule
{
    public static RegistrationDecision Validate(
        MeetingInfo meeting)
    {
        if (meeting.Status != "Published")
            return new Rejected(
                "Meeting is not open for registration");
        if (meeting.RegistrationCount &gt;= meeting.VenueCapacity)
            return new Rejected("Meeting is full");
        return new Allowed();
    }
}</a:t>
            </a:r>
          </a:p>
        </p:txBody>
      </p:sp>
      <p:sp>
        <p:nvSpPr>
          <p:cNvPr id="9" name="injected-service-panel">
            <a:extLst xmlns:a="http://schemas.openxmlformats.org/drawingml/2006/main">
              <a:ext uri="{FF2B5EF4-FFF2-40B4-BE49-F238E27FC236}">
                <a16:creationId xmlns:a16="http://schemas.microsoft.com/office/drawing/2014/main" id="{CBA35452-2089-45A8-8249-CCB47956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90700"/>
            <a:ext cx="44196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njected-service-accent">
            <a:extLst xmlns:a="http://schemas.openxmlformats.org/drawingml/2006/main">
              <a:ext uri="{FF2B5EF4-FFF2-40B4-BE49-F238E27FC236}">
                <a16:creationId xmlns:a16="http://schemas.microsoft.com/office/drawing/2014/main" id="{D3F31F12-38BE-404E-8BE3-B9013DD1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9070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CA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jected-service-label">
            <a:extLst xmlns:a="http://schemas.openxmlformats.org/drawingml/2006/main">
              <a:ext uri="{FF2B5EF4-FFF2-40B4-BE49-F238E27FC236}">
                <a16:creationId xmlns:a16="http://schemas.microsoft.com/office/drawing/2014/main" id="{25DDC132-6559-4626-ACCD-04CE8287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81200"/>
            <a:ext cx="3924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97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IMPERATIVE SHELL</a:t>
            </a:r>
          </a:p>
        </p:txBody>
      </p:sp>
      <p:sp>
        <p:nvSpPr>
          <p:cNvPr id="12" name="injected-service-code">
            <a:extLst xmlns:a="http://schemas.openxmlformats.org/drawingml/2006/main">
              <a:ext uri="{FF2B5EF4-FFF2-40B4-BE49-F238E27FC236}">
                <a16:creationId xmlns:a16="http://schemas.microsoft.com/office/drawing/2014/main" id="{336BF850-EBF8-44E1-8033-9525F62C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14575"/>
            <a:ext cx="39433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225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002250"/>
                </a:solidFill>
                <a:latin typeface="Courier New"/>
                <a:ea typeface="Courier New"/>
                <a:cs typeface="Courier New"/>
              </a:rPr>
              <a:t>public class RegistrationService(
    IMeetingRepository repository,
    INotificationGateway notifications,
    TimeProvider timeProvider)</a:t>
            </a:r>
          </a:p>
        </p:txBody>
      </p:sp>
      <p:sp>
        <p:nvSpPr>
          <p:cNvPr id="13" name="shell-steps">
            <a:extLst xmlns:a="http://schemas.openxmlformats.org/drawingml/2006/main">
              <a:ext uri="{FF2B5EF4-FFF2-40B4-BE49-F238E27FC236}">
                <a16:creationId xmlns:a16="http://schemas.microsoft.com/office/drawing/2014/main" id="{0312884C-A041-49F6-AFC3-FD53423B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95750"/>
            <a:ext cx="363855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6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1  Load the meeting
2  Ask the rule
3  Save and notify</a:t>
            </a:r>
          </a:p>
        </p:txBody>
      </p:sp>
    </p:spTree>
    <p:extLst>
      <p:ext uri="{BB962C8B-B14F-4D97-AF65-F5344CB8AC3E}">
        <p14:creationId xmlns:p14="http://schemas.microsoft.com/office/powerpoint/2010/main" val="13505433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e06e008e147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A195B404-4CF4-4D76-8124-3BBE60AB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Backend tests separate decisions from orchestration</a:t>
            </a:r>
          </a:p>
        </p:txBody>
      </p:sp>
      <p:cxnSp>
        <p:nvCxnSpPr>
          <p:cNvPr id="22" name="title-rule-11"/>
          <p:cNvCxnSpPr/>
          <p:nvPr/>
        </p:nvCxnSpPr>
        <p:spPr>
          <a:xfrm xmlns:a="http://schemas.openxmlformats.org/drawingml/2006/main">
            <a:off x="400050" y="14287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91AE"/>
            </a:solidFill>
            <a:prstDash val="solid"/>
          </a:ln>
        </p:spPr>
      </p:cxn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09FB1C74-6A5D-4715-99CD-85C3A59C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3C91AE"/>
                </a:solidFill>
                <a:latin typeface="Rubik"/>
                <a:ea typeface="Rubik"/>
                <a:cs typeface="Rubik"/>
              </a:defRPr>
            </a:pPr>
            <a:r>
              <a:rPr sz="975" b="0">
                <a:solidFill>
                  <a:srgbClr val="3C91AE"/>
                </a:solidFill>
                <a:latin typeface="Rubik"/>
                <a:ea typeface="Rubik"/>
                <a:cs typeface="Rubik"/>
              </a:rPr>
              <a:t>11</a:t>
            </a:r>
          </a:p>
        </p:txBody>
      </p:sp>
      <p:sp>
        <p:nvSpPr>
          <p:cNvPr id="4" name="eyebrow-11">
            <a:extLst xmlns:a="http://schemas.openxmlformats.org/drawingml/2006/main">
              <a:ext uri="{FF2B5EF4-FFF2-40B4-BE49-F238E27FC236}">
                <a16:creationId xmlns:a16="http://schemas.microsoft.com/office/drawing/2014/main" id="{4C08AF32-0D5A-413F-97BE-D981BEB2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C# · TESTS</a:t>
            </a:r>
          </a:p>
        </p:txBody>
      </p:sp>
      <p:sp>
        <p:nvSpPr>
          <p:cNvPr id="5" name="theory-test-panel">
            <a:extLst xmlns:a="http://schemas.openxmlformats.org/drawingml/2006/main">
              <a:ext uri="{FF2B5EF4-FFF2-40B4-BE49-F238E27FC236}">
                <a16:creationId xmlns:a16="http://schemas.microsoft.com/office/drawing/2014/main" id="{92554F4D-BBF0-4278-B960-F8E0554C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6667500" cy="39052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heory-test-accent">
            <a:extLst xmlns:a="http://schemas.openxmlformats.org/drawingml/2006/main">
              <a:ext uri="{FF2B5EF4-FFF2-40B4-BE49-F238E27FC236}">
                <a16:creationId xmlns:a16="http://schemas.microsoft.com/office/drawing/2014/main" id="{B3C5A8B9-95AA-4209-9DA1-45A41227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762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CA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heory-test-label">
            <a:extLst xmlns:a="http://schemas.openxmlformats.org/drawingml/2006/main">
              <a:ext uri="{FF2B5EF4-FFF2-40B4-BE49-F238E27FC236}">
                <a16:creationId xmlns:a16="http://schemas.microsoft.com/office/drawing/2014/main" id="{730755BC-83AA-404E-9061-E8777701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6172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97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DECISION TEST · NO MOCKS</a:t>
            </a:r>
          </a:p>
        </p:txBody>
      </p:sp>
      <p:sp>
        <p:nvSpPr>
          <p:cNvPr id="8" name="theory-test-code">
            <a:extLst xmlns:a="http://schemas.openxmlformats.org/drawingml/2006/main">
              <a:ext uri="{FF2B5EF4-FFF2-40B4-BE49-F238E27FC236}">
                <a16:creationId xmlns:a16="http://schemas.microsoft.com/office/drawing/2014/main" id="{496B906F-DC10-431F-A8B2-4C6A185E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6191250" cy="3486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225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02250"/>
                </a:solidFill>
                <a:latin typeface="Courier New"/>
                <a:ea typeface="Courier New"/>
                <a:cs typeface="Courier New"/>
              </a:rPr>
              <a:t>[Theory]
[MemberData(nameof(ValidationCases))]
public void Validate_returns_correct_decision(
    string scenario,
    MeetingInfo meeting,
    RegistrationDecision expected)
{
    var decision = RegistrationRule.Validate(meeting);
    Assert.Equal(expected, decision);
}
//  "Published with capacity  →  allowed"
//  "Draft                    →  rejected"
//  "Cancelled                →  rejected"
//  "Full                     →  rejected"</a:t>
            </a:r>
          </a:p>
        </p:txBody>
      </p:sp>
      <p:sp>
        <p:nvSpPr>
          <p:cNvPr id="9" name="orchestration-test-panel">
            <a:extLst xmlns:a="http://schemas.openxmlformats.org/drawingml/2006/main">
              <a:ext uri="{FF2B5EF4-FFF2-40B4-BE49-F238E27FC236}">
                <a16:creationId xmlns:a16="http://schemas.microsoft.com/office/drawing/2014/main" id="{867E5930-FF18-4314-AF12-F808EE71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90700"/>
            <a:ext cx="43624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rchestration-test-accent">
            <a:extLst xmlns:a="http://schemas.openxmlformats.org/drawingml/2006/main">
              <a:ext uri="{FF2B5EF4-FFF2-40B4-BE49-F238E27FC236}">
                <a16:creationId xmlns:a16="http://schemas.microsoft.com/office/drawing/2014/main" id="{8AF8BD72-CC8C-4993-AA39-52E16D19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9070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CA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rchestration-test-label">
            <a:extLst xmlns:a="http://schemas.openxmlformats.org/drawingml/2006/main">
              <a:ext uri="{FF2B5EF4-FFF2-40B4-BE49-F238E27FC236}">
                <a16:creationId xmlns:a16="http://schemas.microsoft.com/office/drawing/2014/main" id="{C7F5085F-6CB4-4474-AD90-7C09E76B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981200"/>
            <a:ext cx="3867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97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ORCHESTRATION TEST · FAKE + SPY</a:t>
            </a:r>
          </a:p>
        </p:txBody>
      </p:sp>
      <p:sp>
        <p:nvSpPr>
          <p:cNvPr id="12" name="orchestration-test-code">
            <a:extLst xmlns:a="http://schemas.openxmlformats.org/drawingml/2006/main">
              <a:ext uri="{FF2B5EF4-FFF2-40B4-BE49-F238E27FC236}">
                <a16:creationId xmlns:a16="http://schemas.microsoft.com/office/drawing/2014/main" id="{B76F7555-4FB3-4A3E-8037-79D9146B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14575"/>
            <a:ext cx="388620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002250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>
                <a:solidFill>
                  <a:srgbClr val="002250"/>
                </a:solidFill>
                <a:latin typeface="Courier New"/>
                <a:ea typeface="Courier New"/>
                <a:cs typeface="Courier New"/>
              </a:rPr>
              <a:t>// meeting is at full capacity
await sut.RegisterAsync(fullMeeting.Id, …);
Assert.Null(repo.SavedMeetingId);
Assert.Null(notifications.NotifiedMeetingId);</a:t>
            </a:r>
          </a:p>
        </p:txBody>
      </p:sp>
      <p:sp>
        <p:nvSpPr>
          <p:cNvPr id="13" name="orchestration-rule">
            <a:extLst xmlns:a="http://schemas.openxmlformats.org/drawingml/2006/main">
              <a:ext uri="{FF2B5EF4-FFF2-40B4-BE49-F238E27FC236}">
                <a16:creationId xmlns:a16="http://schemas.microsoft.com/office/drawing/2014/main" id="{9690F869-B6B5-4256-A328-3A2F0C37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72000"/>
            <a:ext cx="36957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800" b="1">
                <a:solidFill>
                  <a:srgbClr val="263A49"/>
                </a:solidFill>
                <a:latin typeface="Rubik"/>
                <a:ea typeface="Rubik"/>
                <a:cs typeface="Rubik"/>
              </a:rPr>
              <a:t>Verify a call only when the call is the behavior.</a:t>
            </a:r>
          </a:p>
        </p:txBody>
      </p:sp>
      <p:sp>
        <p:nvSpPr>
          <p:cNvPr id="14" name="orchestration-example">
            <a:extLst xmlns:a="http://schemas.openxmlformats.org/drawingml/2006/main">
              <a:ext uri="{FF2B5EF4-FFF2-40B4-BE49-F238E27FC236}">
                <a16:creationId xmlns:a16="http://schemas.microsoft.com/office/drawing/2014/main" id="{18C0DC5A-7A59-448A-B997-AB892053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91150"/>
            <a:ext cx="3695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Example: a rejected registration must never be confirmed.</a:t>
            </a:r>
          </a:p>
        </p:txBody>
      </p:sp>
    </p:spTree>
    <p:extLst>
      <p:ext uri="{BB962C8B-B14F-4D97-AF65-F5344CB8AC3E}">
        <p14:creationId xmlns:p14="http://schemas.microsoft.com/office/powerpoint/2010/main" val="9270192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b00d1176541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8A5814A3-D4C3-4467-AF60-7AED0AE2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Time, GUIDs, and randomness are inputs too</a:t>
            </a:r>
          </a:p>
        </p:txBody>
      </p:sp>
      <p:cxnSp>
        <p:nvCxnSpPr>
          <p:cNvPr id="47" name="title-rule-12"/>
          <p:cNvCxnSpPr/>
          <p:nvPr/>
        </p:nvCxnSpPr>
        <p:spPr>
          <a:xfrm xmlns:a="http://schemas.openxmlformats.org/drawingml/2006/main">
            <a:off x="400050" y="14287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91AE"/>
            </a:solidFill>
            <a:prstDash val="solid"/>
          </a:ln>
        </p:spPr>
      </p:cxnSp>
      <p:sp>
        <p:nvSpPr>
          <p:cNvPr id="3" name="page-12">
            <a:extLst xmlns:a="http://schemas.openxmlformats.org/drawingml/2006/main">
              <a:ext uri="{FF2B5EF4-FFF2-40B4-BE49-F238E27FC236}">
                <a16:creationId xmlns:a16="http://schemas.microsoft.com/office/drawing/2014/main" id="{261D229A-0209-4F30-9E8C-6329868B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3C91AE"/>
                </a:solidFill>
                <a:latin typeface="Rubik"/>
                <a:ea typeface="Rubik"/>
                <a:cs typeface="Rubik"/>
              </a:defRPr>
            </a:pPr>
            <a:r>
              <a:rPr sz="975" b="0">
                <a:solidFill>
                  <a:srgbClr val="3C91AE"/>
                </a:solidFill>
                <a:latin typeface="Rubik"/>
                <a:ea typeface="Rubik"/>
                <a:cs typeface="Rubik"/>
              </a:rPr>
              <a:t>12</a:t>
            </a:r>
          </a:p>
        </p:txBody>
      </p:sp>
      <p:sp>
        <p:nvSpPr>
          <p:cNvPr id="4" name="eyebrow-12">
            <a:extLst xmlns:a="http://schemas.openxmlformats.org/drawingml/2006/main">
              <a:ext uri="{FF2B5EF4-FFF2-40B4-BE49-F238E27FC236}">
                <a16:creationId xmlns:a16="http://schemas.microsoft.com/office/drawing/2014/main" id="{90F0E746-838A-4720-B62F-9EA62A79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SHARED PATTERN</a:t>
            </a:r>
          </a:p>
        </p:txBody>
      </p:sp>
      <p:sp>
        <p:nvSpPr>
          <p:cNvPr id="5" name="det-hidden-title">
            <a:extLst xmlns:a="http://schemas.openxmlformats.org/drawingml/2006/main">
              <a:ext uri="{FF2B5EF4-FFF2-40B4-BE49-F238E27FC236}">
                <a16:creationId xmlns:a16="http://schemas.microsoft.com/office/drawing/2014/main" id="{A9B4DAB7-1FA8-42DE-9CCB-11DDE6DB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150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Hidden</a:t>
            </a:r>
          </a:p>
        </p:txBody>
      </p:sp>
      <p:sp>
        <p:nvSpPr>
          <p:cNvPr id="6" name="det-explicit-title">
            <a:extLst xmlns:a="http://schemas.openxmlformats.org/drawingml/2006/main">
              <a:ext uri="{FF2B5EF4-FFF2-40B4-BE49-F238E27FC236}">
                <a16:creationId xmlns:a16="http://schemas.microsoft.com/office/drawing/2014/main" id="{C4F7CCEC-5637-4A7D-B95B-556CE419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050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150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Controlled</a:t>
            </a:r>
          </a:p>
        </p:txBody>
      </p:sp>
      <p:sp>
        <p:nvSpPr>
          <p:cNvPr id="7" name="det-row-1a">
            <a:extLst xmlns:a="http://schemas.openxmlformats.org/drawingml/2006/main">
              <a:ext uri="{FF2B5EF4-FFF2-40B4-BE49-F238E27FC236}">
                <a16:creationId xmlns:a16="http://schemas.microsoft.com/office/drawing/2014/main" id="{EC332734-F6E4-4690-91B3-0D4ACF56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266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575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DateTimeOffset.UtcNow</a:t>
            </a:r>
          </a:p>
        </p:txBody>
      </p:sp>
      <p:sp>
        <p:nvSpPr>
          <p:cNvPr id="8" name="det-row-1b">
            <a:extLst xmlns:a="http://schemas.openxmlformats.org/drawingml/2006/main">
              <a:ext uri="{FF2B5EF4-FFF2-40B4-BE49-F238E27FC236}">
                <a16:creationId xmlns:a16="http://schemas.microsoft.com/office/drawing/2014/main" id="{A832EC5C-6B19-4EA6-95F1-BB031CEA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2286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575" b="1">
                <a:solidFill>
                  <a:srgbClr val="263A49"/>
                </a:solidFill>
                <a:latin typeface="Rubik"/>
                <a:ea typeface="Rubik"/>
                <a:cs typeface="Rubik"/>
              </a:rPr>
              <a:t>TimeProvider</a:t>
            </a:r>
          </a:p>
        </p:txBody>
      </p:sp>
      <p:cxnSp>
        <p:nvCxnSpPr>
          <p:cNvPr id="54" name="det-line-1"/>
          <p:cNvCxnSpPr/>
          <p:nvPr/>
        </p:nvCxnSpPr>
        <p:spPr>
          <a:xfrm xmlns:a="http://schemas.openxmlformats.org/drawingml/2006/main">
            <a:off x="400050" y="3048000"/>
            <a:ext cx="57150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8DBE2"/>
            </a:solidFill>
            <a:prstDash val="solid"/>
          </a:ln>
        </p:spPr>
      </p:cxnSp>
      <p:sp>
        <p:nvSpPr>
          <p:cNvPr id="10" name="det-row-2a">
            <a:extLst xmlns:a="http://schemas.openxmlformats.org/drawingml/2006/main">
              <a:ext uri="{FF2B5EF4-FFF2-40B4-BE49-F238E27FC236}">
                <a16:creationId xmlns:a16="http://schemas.microsoft.com/office/drawing/2014/main" id="{D8D0BBF1-8621-4BCA-BDAD-0FC3F69B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266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575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Guid.NewGuid()</a:t>
            </a:r>
          </a:p>
        </p:txBody>
      </p:sp>
      <p:sp>
        <p:nvSpPr>
          <p:cNvPr id="11" name="det-row-2b">
            <a:extLst xmlns:a="http://schemas.openxmlformats.org/drawingml/2006/main">
              <a:ext uri="{FF2B5EF4-FFF2-40B4-BE49-F238E27FC236}">
                <a16:creationId xmlns:a16="http://schemas.microsoft.com/office/drawing/2014/main" id="{74994344-3A4C-4B85-B7B3-4D9E4713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2286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575" b="1">
                <a:solidFill>
                  <a:srgbClr val="263A49"/>
                </a:solidFill>
                <a:latin typeface="Rubik"/>
                <a:ea typeface="Rubik"/>
                <a:cs typeface="Rubik"/>
              </a:rPr>
              <a:t>IGuidGenerator</a:t>
            </a:r>
          </a:p>
        </p:txBody>
      </p:sp>
      <p:cxnSp>
        <p:nvCxnSpPr>
          <p:cNvPr id="57" name="det-line-2"/>
          <p:cNvCxnSpPr/>
          <p:nvPr/>
        </p:nvCxnSpPr>
        <p:spPr>
          <a:xfrm xmlns:a="http://schemas.openxmlformats.org/drawingml/2006/main">
            <a:off x="400050" y="3810000"/>
            <a:ext cx="57150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8DBE2"/>
            </a:solidFill>
            <a:prstDash val="solid"/>
          </a:ln>
        </p:spPr>
      </p:cxnSp>
      <p:sp>
        <p:nvSpPr>
          <p:cNvPr id="13" name="det-row-3a">
            <a:extLst xmlns:a="http://schemas.openxmlformats.org/drawingml/2006/main">
              <a:ext uri="{FF2B5EF4-FFF2-40B4-BE49-F238E27FC236}">
                <a16:creationId xmlns:a16="http://schemas.microsoft.com/office/drawing/2014/main" id="{EC6C6119-55ED-4D36-B644-C844E7B4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266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575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Random.Shared</a:t>
            </a:r>
          </a:p>
        </p:txBody>
      </p:sp>
      <p:sp>
        <p:nvSpPr>
          <p:cNvPr id="14" name="det-row-3b">
            <a:extLst xmlns:a="http://schemas.openxmlformats.org/drawingml/2006/main">
              <a:ext uri="{FF2B5EF4-FFF2-40B4-BE49-F238E27FC236}">
                <a16:creationId xmlns:a16="http://schemas.microsoft.com/office/drawing/2014/main" id="{7DB9D0EF-B1A4-451A-8ACC-A8BF4314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2286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575" b="1">
                <a:solidFill>
                  <a:srgbClr val="263A49"/>
                </a:solidFill>
                <a:latin typeface="Rubik"/>
                <a:ea typeface="Rubik"/>
                <a:cs typeface="Rubik"/>
              </a:rPr>
              <a:t>IRandomSource</a:t>
            </a:r>
          </a:p>
        </p:txBody>
      </p:sp>
      <p:sp>
        <p:nvSpPr>
          <p:cNvPr id="15" name="time-test-panel">
            <a:extLst xmlns:a="http://schemas.openxmlformats.org/drawingml/2006/main">
              <a:ext uri="{FF2B5EF4-FFF2-40B4-BE49-F238E27FC236}">
                <a16:creationId xmlns:a16="http://schemas.microsoft.com/office/drawing/2014/main" id="{56D2DE1E-D3AD-42EE-A823-630C73D0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52197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ime-test-accent">
            <a:extLst xmlns:a="http://schemas.openxmlformats.org/drawingml/2006/main">
              <a:ext uri="{FF2B5EF4-FFF2-40B4-BE49-F238E27FC236}">
                <a16:creationId xmlns:a16="http://schemas.microsoft.com/office/drawing/2014/main" id="{E2F83707-C8A8-48C3-B95D-B5247494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CA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ime-test-label">
            <a:extLst xmlns:a="http://schemas.openxmlformats.org/drawingml/2006/main">
              <a:ext uri="{FF2B5EF4-FFF2-40B4-BE49-F238E27FC236}">
                <a16:creationId xmlns:a16="http://schemas.microsoft.com/office/drawing/2014/main" id="{1E336ECA-7AD0-4C48-8200-DE80BBB7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76450"/>
            <a:ext cx="472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97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DETERMINISTIC TIME</a:t>
            </a:r>
          </a:p>
        </p:txBody>
      </p:sp>
      <p:sp>
        <p:nvSpPr>
          <p:cNvPr id="18" name="time-test-code">
            <a:extLst xmlns:a="http://schemas.openxmlformats.org/drawingml/2006/main">
              <a:ext uri="{FF2B5EF4-FFF2-40B4-BE49-F238E27FC236}">
                <a16:creationId xmlns:a16="http://schemas.microsoft.com/office/drawing/2014/main" id="{04B0C2E6-2E67-4932-91C4-9D9025D4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09825"/>
            <a:ext cx="4743450" cy="274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225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002250"/>
                </a:solidFill>
                <a:latin typeface="Courier New"/>
                <a:ea typeface="Courier New"/>
                <a:cs typeface="Courier New"/>
              </a:rPr>
              <a:t>var time = new FakeTimeProvider();
time.SetUtcNow(new DateTimeOffset(
    2025, 6, 15, 10, 0, 0, TimeSpan.Zero));
var sut = new RegistrationService(
    repo, notifications, time);
var result = await sut.RegisterAsync(…);
Assert.Equal(time.GetUtcNow(),
    ((Created)result).RegisteredAt);</a:t>
            </a:r>
          </a:p>
        </p:txBody>
      </p:sp>
      <p:sp>
        <p:nvSpPr>
          <p:cNvPr id="19" name="det-bottom">
            <a:extLst xmlns:a="http://schemas.openxmlformats.org/drawingml/2006/main">
              <a:ext uri="{FF2B5EF4-FFF2-40B4-BE49-F238E27FC236}">
                <a16:creationId xmlns:a16="http://schemas.microsoft.com/office/drawing/2014/main" id="{419634A3-E588-46F1-BFB7-1CD13682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11391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87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If a value can change the result, treat it as an input.</a:t>
            </a:r>
          </a:p>
        </p:txBody>
      </p:sp>
    </p:spTree>
    <p:extLst>
      <p:ext uri="{BB962C8B-B14F-4D97-AF65-F5344CB8AC3E}">
        <p14:creationId xmlns:p14="http://schemas.microsoft.com/office/powerpoint/2010/main" val="15572386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3a4a4d7ed482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7B9D2488-D23F-4477-ABC0-C3CFB503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Choose the cheapest test that proves the behavior</a:t>
            </a:r>
          </a:p>
        </p:txBody>
      </p:sp>
      <p:cxnSp>
        <p:nvCxnSpPr>
          <p:cNvPr id="25" name="title-rule-13"/>
          <p:cNvCxnSpPr/>
          <p:nvPr/>
        </p:nvCxnSpPr>
        <p:spPr>
          <a:xfrm xmlns:a="http://schemas.openxmlformats.org/drawingml/2006/main">
            <a:off x="400050" y="14287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91AE"/>
            </a:solidFill>
            <a:prstDash val="solid"/>
          </a:ln>
        </p:spPr>
      </p:cxnSp>
      <p:sp>
        <p:nvSpPr>
          <p:cNvPr id="3" name="page-13">
            <a:extLst xmlns:a="http://schemas.openxmlformats.org/drawingml/2006/main">
              <a:ext uri="{FF2B5EF4-FFF2-40B4-BE49-F238E27FC236}">
                <a16:creationId xmlns:a16="http://schemas.microsoft.com/office/drawing/2014/main" id="{AD4CF199-9378-40BE-B194-5BDE28D5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3C91AE"/>
                </a:solidFill>
                <a:latin typeface="Rubik"/>
                <a:ea typeface="Rubik"/>
                <a:cs typeface="Rubik"/>
              </a:defRPr>
            </a:pPr>
            <a:r>
              <a:rPr sz="975" b="0">
                <a:solidFill>
                  <a:srgbClr val="3C91AE"/>
                </a:solidFill>
                <a:latin typeface="Rubik"/>
                <a:ea typeface="Rubik"/>
                <a:cs typeface="Rubik"/>
              </a:rPr>
              <a:t>13</a:t>
            </a:r>
          </a:p>
        </p:txBody>
      </p:sp>
      <p:sp>
        <p:nvSpPr>
          <p:cNvPr id="4" name="eyebrow-13">
            <a:extLst xmlns:a="http://schemas.openxmlformats.org/drawingml/2006/main">
              <a:ext uri="{FF2B5EF4-FFF2-40B4-BE49-F238E27FC236}">
                <a16:creationId xmlns:a16="http://schemas.microsoft.com/office/drawing/2014/main" id="{9545874B-9380-4E86-A73F-A875DC56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TEST BOUNDARIES</a:t>
            </a:r>
          </a:p>
        </p:txBody>
      </p:sp>
      <p:sp>
        <p:nvSpPr>
          <p:cNvPr id="5" name="level-1-panel">
            <a:extLst xmlns:a="http://schemas.openxmlformats.org/drawingml/2006/main">
              <a:ext uri="{FF2B5EF4-FFF2-40B4-BE49-F238E27FC236}">
                <a16:creationId xmlns:a16="http://schemas.microsoft.com/office/drawing/2014/main" id="{A8DAE954-D84E-4502-9F54-EA41B11F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5623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evel-1-number">
            <a:extLst xmlns:a="http://schemas.openxmlformats.org/drawingml/2006/main">
              <a:ext uri="{FF2B5EF4-FFF2-40B4-BE49-F238E27FC236}">
                <a16:creationId xmlns:a16="http://schemas.microsoft.com/office/drawing/2014/main" id="{29BEB380-EC5A-4925-9C13-33054A41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22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01</a:t>
            </a:r>
          </a:p>
        </p:txBody>
      </p:sp>
      <p:sp>
        <p:nvSpPr>
          <p:cNvPr id="7" name="level-1-title">
            <a:extLst xmlns:a="http://schemas.openxmlformats.org/drawingml/2006/main">
              <a:ext uri="{FF2B5EF4-FFF2-40B4-BE49-F238E27FC236}">
                <a16:creationId xmlns:a16="http://schemas.microsoft.com/office/drawing/2014/main" id="{954CE948-BB47-498C-B434-6ED377AA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3105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180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Unit</a:t>
            </a:r>
          </a:p>
        </p:txBody>
      </p:sp>
      <p:sp>
        <p:nvSpPr>
          <p:cNvPr id="8" name="level-1-body">
            <a:extLst xmlns:a="http://schemas.openxmlformats.org/drawingml/2006/main">
              <a:ext uri="{FF2B5EF4-FFF2-40B4-BE49-F238E27FC236}">
                <a16:creationId xmlns:a16="http://schemas.microsoft.com/office/drawing/2014/main" id="{CB6DBBCF-530C-42C5-8169-E5ED2C19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95650"/>
            <a:ext cx="3105150" cy="1847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Resolver, registration rule, permission decision, badge mapping.
Fast · many cases</a:t>
            </a:r>
          </a:p>
        </p:txBody>
      </p:sp>
      <p:sp>
        <p:nvSpPr>
          <p:cNvPr id="9" name="level-2-panel">
            <a:extLst xmlns:a="http://schemas.openxmlformats.org/drawingml/2006/main">
              <a:ext uri="{FF2B5EF4-FFF2-40B4-BE49-F238E27FC236}">
                <a16:creationId xmlns:a16="http://schemas.microsoft.com/office/drawing/2014/main" id="{B4929035-0D3E-4883-923A-B682DB74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00250"/>
            <a:ext cx="35623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evel-2-number">
            <a:extLst xmlns:a="http://schemas.openxmlformats.org/drawingml/2006/main">
              <a:ext uri="{FF2B5EF4-FFF2-40B4-BE49-F238E27FC236}">
                <a16:creationId xmlns:a16="http://schemas.microsoft.com/office/drawing/2014/main" id="{0D3CE186-5C62-4ECC-AC16-A5003FB9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0980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22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02</a:t>
            </a:r>
          </a:p>
        </p:txBody>
      </p:sp>
      <p:sp>
        <p:nvSpPr>
          <p:cNvPr id="11" name="level-2-title">
            <a:extLst xmlns:a="http://schemas.openxmlformats.org/drawingml/2006/main">
              <a:ext uri="{FF2B5EF4-FFF2-40B4-BE49-F238E27FC236}">
                <a16:creationId xmlns:a16="http://schemas.microsoft.com/office/drawing/2014/main" id="{E830DC21-F2A6-490C-828A-580E4663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743200"/>
            <a:ext cx="3105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180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Component</a:t>
            </a:r>
          </a:p>
        </p:txBody>
      </p:sp>
      <p:sp>
        <p:nvSpPr>
          <p:cNvPr id="12" name="level-2-body">
            <a:extLst xmlns:a="http://schemas.openxmlformats.org/drawingml/2006/main">
              <a:ext uri="{FF2B5EF4-FFF2-40B4-BE49-F238E27FC236}">
                <a16:creationId xmlns:a16="http://schemas.microsoft.com/office/drawing/2014/main" id="{C7E94421-1700-4DE9-8DEB-3D9F6557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95650"/>
            <a:ext cx="3105150" cy="1847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Visible React state, accessible controls, interaction, network behavior via MSW.
Focused · fewer cases</a:t>
            </a:r>
          </a:p>
        </p:txBody>
      </p:sp>
      <p:sp>
        <p:nvSpPr>
          <p:cNvPr id="13" name="level-3-panel">
            <a:extLst xmlns:a="http://schemas.openxmlformats.org/drawingml/2006/main">
              <a:ext uri="{FF2B5EF4-FFF2-40B4-BE49-F238E27FC236}">
                <a16:creationId xmlns:a16="http://schemas.microsoft.com/office/drawing/2014/main" id="{3BD12B87-D93F-4216-A565-55FBA802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35623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evel-3-number">
            <a:extLst xmlns:a="http://schemas.openxmlformats.org/drawingml/2006/main">
              <a:ext uri="{FF2B5EF4-FFF2-40B4-BE49-F238E27FC236}">
                <a16:creationId xmlns:a16="http://schemas.microsoft.com/office/drawing/2014/main" id="{2D7D4BD1-3D3D-4FE3-A315-38B369C3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0980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22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03</a:t>
            </a:r>
          </a:p>
        </p:txBody>
      </p:sp>
      <p:sp>
        <p:nvSpPr>
          <p:cNvPr id="15" name="level-3-title">
            <a:extLst xmlns:a="http://schemas.openxmlformats.org/drawingml/2006/main">
              <a:ext uri="{FF2B5EF4-FFF2-40B4-BE49-F238E27FC236}">
                <a16:creationId xmlns:a16="http://schemas.microsoft.com/office/drawing/2014/main" id="{0A002C78-041D-4524-9613-F4F0C61A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3105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180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Integration</a:t>
            </a:r>
          </a:p>
        </p:txBody>
      </p:sp>
      <p:sp>
        <p:nvSpPr>
          <p:cNvPr id="16" name="level-3-body">
            <a:extLst xmlns:a="http://schemas.openxmlformats.org/drawingml/2006/main">
              <a:ext uri="{FF2B5EF4-FFF2-40B4-BE49-F238E27FC236}">
                <a16:creationId xmlns:a16="http://schemas.microsoft.com/office/drawing/2014/main" id="{71F5A44B-96C4-4D22-9E41-9444387F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95650"/>
            <a:ext cx="3105150" cy="1847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EF Core queries, serialization, routing, DI registration, authentication pipeline.
Realistic · selected cases</a:t>
            </a:r>
          </a:p>
        </p:txBody>
      </p:sp>
      <p:sp>
        <p:nvSpPr>
          <p:cNvPr id="17" name="level-note">
            <a:extLst xmlns:a="http://schemas.openxmlformats.org/drawingml/2006/main">
              <a:ext uri="{FF2B5EF4-FFF2-40B4-BE49-F238E27FC236}">
                <a16:creationId xmlns:a16="http://schemas.microsoft.com/office/drawing/2014/main" id="{FCE48469-B861-4D85-BDFA-7F423748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32120"/>
            <a:ext cx="914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575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A mocked database query does not prove the real database understands it.</a:t>
            </a:r>
          </a:p>
        </p:txBody>
      </p:sp>
    </p:spTree>
    <p:extLst>
      <p:ext uri="{BB962C8B-B14F-4D97-AF65-F5344CB8AC3E}">
        <p14:creationId xmlns:p14="http://schemas.microsoft.com/office/powerpoint/2010/main" val="8875153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559827d794f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FBE6270B-E9F4-49B8-9C02-461A192D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Practice: refactor one feature in both stacks</a:t>
            </a:r>
          </a:p>
        </p:txBody>
      </p:sp>
      <p:cxnSp>
        <p:nvCxnSpPr>
          <p:cNvPr id="19" name="title-rule-14"/>
          <p:cNvCxnSpPr/>
          <p:nvPr/>
        </p:nvCxnSpPr>
        <p:spPr>
          <a:xfrm xmlns:a="http://schemas.openxmlformats.org/drawingml/2006/main">
            <a:off x="400050" y="14287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91AE"/>
            </a:solidFill>
            <a:prstDash val="solid"/>
          </a:ln>
        </p:spPr>
      </p:cxnSp>
      <p:sp>
        <p:nvSpPr>
          <p:cNvPr id="3" name="page-14">
            <a:extLst xmlns:a="http://schemas.openxmlformats.org/drawingml/2006/main">
              <a:ext uri="{FF2B5EF4-FFF2-40B4-BE49-F238E27FC236}">
                <a16:creationId xmlns:a16="http://schemas.microsoft.com/office/drawing/2014/main" id="{0EC99570-16B2-4709-B2AF-744CD874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3C91AE"/>
                </a:solidFill>
                <a:latin typeface="Rubik"/>
                <a:ea typeface="Rubik"/>
                <a:cs typeface="Rubik"/>
              </a:defRPr>
            </a:pPr>
            <a:r>
              <a:rPr sz="975" b="0">
                <a:solidFill>
                  <a:srgbClr val="3C91AE"/>
                </a:solidFill>
                <a:latin typeface="Rubik"/>
                <a:ea typeface="Rubik"/>
                <a:cs typeface="Rubik"/>
              </a:rPr>
              <a:t>14</a:t>
            </a:r>
          </a:p>
        </p:txBody>
      </p:sp>
      <p:sp>
        <p:nvSpPr>
          <p:cNvPr id="4" name="eyebrow-14">
            <a:extLst xmlns:a="http://schemas.openxmlformats.org/drawingml/2006/main">
              <a:ext uri="{FF2B5EF4-FFF2-40B4-BE49-F238E27FC236}">
                <a16:creationId xmlns:a16="http://schemas.microsoft.com/office/drawing/2014/main" id="{5BB570B5-A5AB-4AD2-AD0B-6F0DE79A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10–15 MINUTE EXERCISE</a:t>
            </a:r>
          </a:p>
        </p:txBody>
      </p:sp>
      <p:sp>
        <p:nvSpPr>
          <p:cNvPr id="5" name="exercise-react">
            <a:extLst xmlns:a="http://schemas.openxmlformats.org/drawingml/2006/main">
              <a:ext uri="{FF2B5EF4-FFF2-40B4-BE49-F238E27FC236}">
                <a16:creationId xmlns:a16="http://schemas.microsoft.com/office/drawing/2014/main" id="{1703E70A-37F8-4877-8AA6-0EFFC847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5429250" cy="333756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xercise-react-title">
            <a:extLst xmlns:a="http://schemas.openxmlformats.org/drawingml/2006/main">
              <a:ext uri="{FF2B5EF4-FFF2-40B4-BE49-F238E27FC236}">
                <a16:creationId xmlns:a16="http://schemas.microsoft.com/office/drawing/2014/main" id="{C23ABAA9-F671-4245-A0CC-3BC4AE39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210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React</a:t>
            </a:r>
          </a:p>
        </p:txBody>
      </p:sp>
      <p:sp>
        <p:nvSpPr>
          <p:cNvPr id="7" name="exercise-react-body">
            <a:extLst xmlns:a="http://schemas.openxmlformats.org/drawingml/2006/main">
              <a:ext uri="{FF2B5EF4-FFF2-40B4-BE49-F238E27FC236}">
                <a16:creationId xmlns:a16="http://schemas.microsoft.com/office/drawing/2014/main" id="{5A28370C-CEE2-4A10-9767-C59D8AAF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7625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650" b="1">
                <a:solidFill>
                  <a:srgbClr val="263A49"/>
                </a:solidFill>
                <a:latin typeface="Rubik"/>
                <a:ea typeface="Rubik"/>
                <a:cs typeface="Rubik"/>
              </a:rPr>
              <a:t>1  Implement resolveMeetingRow
2  Add the Draft + Viewer case
3  Add the Viewer component test
4  Remove describe.skip, run tests</a:t>
            </a:r>
          </a:p>
        </p:txBody>
      </p:sp>
      <p:sp>
        <p:nvSpPr>
          <p:cNvPr id="8" name="exercise-csharp">
            <a:extLst xmlns:a="http://schemas.openxmlformats.org/drawingml/2006/main">
              <a:ext uri="{FF2B5EF4-FFF2-40B4-BE49-F238E27FC236}">
                <a16:creationId xmlns:a16="http://schemas.microsoft.com/office/drawing/2014/main" id="{A0E61C6F-121D-4DC4-93C3-8615C13A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66900"/>
            <a:ext cx="5429250" cy="333756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xercise-csharp-title">
            <a:extLst xmlns:a="http://schemas.openxmlformats.org/drawingml/2006/main">
              <a:ext uri="{FF2B5EF4-FFF2-40B4-BE49-F238E27FC236}">
                <a16:creationId xmlns:a16="http://schemas.microsoft.com/office/drawing/2014/main" id="{59FFC215-5795-4C8F-89F5-DA18B1D0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33600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210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C#</a:t>
            </a:r>
          </a:p>
        </p:txBody>
      </p:sp>
      <p:sp>
        <p:nvSpPr>
          <p:cNvPr id="10" name="exercise-csharp-body">
            <a:extLst xmlns:a="http://schemas.openxmlformats.org/drawingml/2006/main">
              <a:ext uri="{FF2B5EF4-FFF2-40B4-BE49-F238E27FC236}">
                <a16:creationId xmlns:a16="http://schemas.microsoft.com/office/drawing/2014/main" id="{6AA33270-913E-4301-8AC5-6646C125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81300"/>
            <a:ext cx="47625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650" b="1">
                <a:solidFill>
                  <a:srgbClr val="263A49"/>
                </a:solidFill>
                <a:latin typeface="Rubik"/>
                <a:ea typeface="Rubik"/>
                <a:cs typeface="Rubik"/>
              </a:rPr>
              <a:t>1  Implement RegistrationRule.Validate
2  Inject TimeProvider for the stamp
3  Prove a rejection sends no email
4  Remove Skip, run dotnet test</a:t>
            </a:r>
          </a:p>
        </p:txBody>
      </p:sp>
      <p:sp>
        <p:nvSpPr>
          <p:cNvPr id="11" name="exercise-share">
            <a:extLst xmlns:a="http://schemas.openxmlformats.org/drawingml/2006/main">
              <a:ext uri="{FF2B5EF4-FFF2-40B4-BE49-F238E27FC236}">
                <a16:creationId xmlns:a16="http://schemas.microsoft.com/office/drawing/2014/main" id="{48100BFD-4073-48A0-8E1F-F0DD285B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32120"/>
            <a:ext cx="11391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6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Share: What became simpler in the production code?</a:t>
            </a:r>
          </a:p>
        </p:txBody>
      </p:sp>
    </p:spTree>
    <p:extLst>
      <p:ext uri="{BB962C8B-B14F-4D97-AF65-F5344CB8AC3E}">
        <p14:creationId xmlns:p14="http://schemas.microsoft.com/office/powerpoint/2010/main" val="16211220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cc7a4965749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59CA2F0C-3BE1-4B6D-B080-FA70460C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2925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References for deeper discussion</a:t>
            </a:r>
          </a:p>
        </p:txBody>
      </p:sp>
      <p:cxnSp>
        <p:nvCxnSpPr>
          <p:cNvPr id="27" name="title-rule-15"/>
          <p:cNvCxnSpPr/>
          <p:nvPr/>
        </p:nvCxnSpPr>
        <p:spPr>
          <a:xfrm xmlns:a="http://schemas.openxmlformats.org/drawingml/2006/main">
            <a:off x="400050" y="14287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91AE"/>
            </a:solidFill>
            <a:prstDash val="solid"/>
          </a:ln>
        </p:spPr>
      </p:cxnSp>
      <p:sp>
        <p:nvSpPr>
          <p:cNvPr id="3" name="page-15">
            <a:extLst xmlns:a="http://schemas.openxmlformats.org/drawingml/2006/main">
              <a:ext uri="{FF2B5EF4-FFF2-40B4-BE49-F238E27FC236}">
                <a16:creationId xmlns:a16="http://schemas.microsoft.com/office/drawing/2014/main" id="{F90FE5A3-6218-41EC-89C0-C5E6748C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3C91AE"/>
                </a:solidFill>
                <a:latin typeface="Rubik"/>
                <a:ea typeface="Rubik"/>
                <a:cs typeface="Rubik"/>
              </a:defRPr>
            </a:pPr>
            <a:r>
              <a:rPr sz="975" b="0">
                <a:solidFill>
                  <a:srgbClr val="3C91AE"/>
                </a:solidFill>
                <a:latin typeface="Rubik"/>
                <a:ea typeface="Rubik"/>
                <a:cs typeface="Rubik"/>
              </a:rPr>
              <a:t>15</a:t>
            </a:r>
          </a:p>
        </p:txBody>
      </p:sp>
      <p:sp>
        <p:nvSpPr>
          <p:cNvPr id="4" name="eyebrow-15">
            <a:extLst xmlns:a="http://schemas.openxmlformats.org/drawingml/2006/main">
              <a:ext uri="{FF2B5EF4-FFF2-40B4-BE49-F238E27FC236}">
                <a16:creationId xmlns:a16="http://schemas.microsoft.com/office/drawing/2014/main" id="{FACFCEBF-D9E8-4603-8C74-E8B3C8C8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0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OFFICIAL GUIDANCE</a:t>
            </a:r>
          </a:p>
        </p:txBody>
      </p:sp>
      <p:sp>
        <p:nvSpPr>
          <p:cNvPr id="5" name="sources-left-title">
            <a:extLst xmlns:a="http://schemas.openxmlformats.org/drawingml/2006/main">
              <a:ext uri="{FF2B5EF4-FFF2-40B4-BE49-F238E27FC236}">
                <a16:creationId xmlns:a16="http://schemas.microsoft.com/office/drawing/2014/main" id="{09F8420D-A642-43E9-A9BA-494F578A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195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Frontend</a:t>
            </a:r>
          </a:p>
        </p:txBody>
      </p:sp>
      <p:sp>
        <p:nvSpPr>
          <p:cNvPr id="6" name="sources-left">
            <a:extLst xmlns:a="http://schemas.openxmlformats.org/drawingml/2006/main">
              <a:ext uri="{FF2B5EF4-FFF2-40B4-BE49-F238E27FC236}">
                <a16:creationId xmlns:a16="http://schemas.microsoft.com/office/drawing/2014/main" id="{EB2EBD48-9535-4FC5-A185-420D8D42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5334000" cy="3257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React · Keeping Components Pure</a:t>
            </a:r>
          </a:p>
          <a:p xmlns:a="http://schemas.openxmlformats.org/drawingml/2006/main">
            <a:pPr algn="l">
              <a:buNone/>
              <a:defRPr sz="1100" b="0">
                <a:solidFill>
                  <a:srgbClr val="3C91AE"/>
                </a:solidFill>
                <a:latin typeface="Rubik"/>
                <a:ea typeface="Rubik"/>
                <a:cs typeface="Rubik"/>
              </a:defRPr>
            </a:pPr>
            <a:r>
              <a:rPr sz="1100" b="0">
                <a:solidFill>
                  <a:srgbClr val="3C91AE"/>
                </a:solidFill>
                <a:latin typeface="Rubik"/>
                <a:ea typeface="Rubik"/>
                <a:cs typeface="Rubik"/>
                <a:hlinkClick xmlns:r="http://schemas.openxmlformats.org/officeDocument/2006/relationships" r:id="rHl1"/>
              </a:rPr>
              <a:t>react.dev/learn/keeping-components-pure</a:t>
            </a:r>
          </a:p>
          <a:p xmlns:a="http://schemas.openxmlformats.org/drawingml/2006/main">
            <a:pPr algn="l">
              <a:buNone/>
              <a:defRPr sz="700"/>
            </a:pPr>
            <a:endParaRPr sz="700"/>
          </a:p>
          <a:p xmlns:a="http://schemas.openxmlformats.org/drawingml/2006/main">
            <a:pPr algn="l">
              <a:buNone/>
              <a:defRPr sz="1350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Testing Library · About Queries</a:t>
            </a:r>
          </a:p>
          <a:p xmlns:a="http://schemas.openxmlformats.org/drawingml/2006/main">
            <a:pPr algn="l">
              <a:buNone/>
              <a:defRPr sz="1100" b="0">
                <a:solidFill>
                  <a:srgbClr val="3C91AE"/>
                </a:solidFill>
                <a:latin typeface="Rubik"/>
                <a:ea typeface="Rubik"/>
                <a:cs typeface="Rubik"/>
              </a:defRPr>
            </a:pPr>
            <a:r>
              <a:rPr sz="1100" b="0">
                <a:solidFill>
                  <a:srgbClr val="3C91AE"/>
                </a:solidFill>
                <a:latin typeface="Rubik"/>
                <a:ea typeface="Rubik"/>
                <a:cs typeface="Rubik"/>
                <a:hlinkClick xmlns:r="http://schemas.openxmlformats.org/officeDocument/2006/relationships" r:id="rHl2"/>
              </a:rPr>
              <a:t>testing-library.com/docs/queries/about</a:t>
            </a:r>
          </a:p>
          <a:p xmlns:a="http://schemas.openxmlformats.org/drawingml/2006/main">
            <a:pPr algn="l">
              <a:buNone/>
              <a:defRPr sz="700"/>
            </a:pPr>
            <a:endParaRPr sz="700"/>
          </a:p>
          <a:p xmlns:a="http://schemas.openxmlformats.org/drawingml/2006/main">
            <a:pPr algn="l">
              <a:buNone/>
              <a:defRPr sz="1350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Redux · Deriving Data with Selectors</a:t>
            </a:r>
          </a:p>
          <a:p xmlns:a="http://schemas.openxmlformats.org/drawingml/2006/main">
            <a:pPr algn="l">
              <a:buNone/>
              <a:defRPr sz="1100" b="0">
                <a:solidFill>
                  <a:srgbClr val="3C91AE"/>
                </a:solidFill>
                <a:latin typeface="Rubik"/>
                <a:ea typeface="Rubik"/>
                <a:cs typeface="Rubik"/>
              </a:defRPr>
            </a:pPr>
            <a:r>
              <a:rPr sz="1100" b="0">
                <a:solidFill>
                  <a:srgbClr val="3C91AE"/>
                </a:solidFill>
                <a:latin typeface="Rubik"/>
                <a:ea typeface="Rubik"/>
                <a:cs typeface="Rubik"/>
                <a:hlinkClick xmlns:r="http://schemas.openxmlformats.org/officeDocument/2006/relationships" r:id="rHl3"/>
              </a:rPr>
              <a:t>redux.js.org/usage/deriving-data-selectors</a:t>
            </a:r>
          </a:p>
          <a:p xmlns:a="http://schemas.openxmlformats.org/drawingml/2006/main">
            <a:pPr algn="l">
              <a:buNone/>
              <a:defRPr sz="700"/>
            </a:pPr>
            <a:endParaRPr sz="700"/>
          </a:p>
          <a:p xmlns:a="http://schemas.openxmlformats.org/drawingml/2006/main">
            <a:pPr algn="l">
              <a:buNone/>
              <a:defRPr sz="1350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MSW · Network-level API mocking</a:t>
            </a:r>
          </a:p>
          <a:p xmlns:a="http://schemas.openxmlformats.org/drawingml/2006/main">
            <a:pPr algn="l">
              <a:buNone/>
              <a:defRPr sz="1100" b="0">
                <a:solidFill>
                  <a:srgbClr val="3C91AE"/>
                </a:solidFill>
                <a:latin typeface="Rubik"/>
                <a:ea typeface="Rubik"/>
                <a:cs typeface="Rubik"/>
              </a:defRPr>
            </a:pPr>
            <a:r>
              <a:rPr sz="1100" b="0">
                <a:solidFill>
                  <a:srgbClr val="3C91AE"/>
                </a:solidFill>
                <a:latin typeface="Rubik"/>
                <a:ea typeface="Rubik"/>
                <a:cs typeface="Rubik"/>
                <a:hlinkClick xmlns:r="http://schemas.openxmlformats.org/officeDocument/2006/relationships" r:id="rHl4"/>
              </a:rPr>
              <a:t>mswjs.io/docs</a:t>
            </a:r>
          </a:p>
        </p:txBody>
      </p:sp>
      <p:cxnSp>
        <p:nvCxnSpPr>
          <p:cNvPr id="32" name="sources-vertical-divider"/>
          <p:cNvCxnSpPr/>
          <p:nvPr/>
        </p:nvCxnSpPr>
        <p:spPr>
          <a:xfrm xmlns:a="http://schemas.openxmlformats.org/drawingml/2006/main">
            <a:off x="6076950" y="1866900"/>
            <a:ext cx="95" cy="38862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8DBE2"/>
            </a:solidFill>
            <a:prstDash val="solid"/>
          </a:ln>
        </p:spPr>
      </p:cxnSp>
      <p:sp>
        <p:nvSpPr>
          <p:cNvPr id="8" name="sources-right-title">
            <a:extLst xmlns:a="http://schemas.openxmlformats.org/drawingml/2006/main">
              <a:ext uri="{FF2B5EF4-FFF2-40B4-BE49-F238E27FC236}">
                <a16:creationId xmlns:a16="http://schemas.microsoft.com/office/drawing/2014/main" id="{064C1CE7-7020-43DA-A114-67636959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2405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195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Backend</a:t>
            </a:r>
          </a:p>
        </p:txBody>
      </p:sp>
      <p:sp>
        <p:nvSpPr>
          <p:cNvPr id="9" name="sources-right">
            <a:extLst xmlns:a="http://schemas.openxmlformats.org/drawingml/2006/main">
              <a:ext uri="{FF2B5EF4-FFF2-40B4-BE49-F238E27FC236}">
                <a16:creationId xmlns:a16="http://schemas.microsoft.com/office/drawing/2014/main" id="{E61BCDF9-589E-4A33-A4BB-307242C1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57450"/>
            <a:ext cx="5334000" cy="3257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.NET · Unit testing best practices</a:t>
            </a:r>
          </a:p>
          <a:p xmlns:a="http://schemas.openxmlformats.org/drawingml/2006/main">
            <a:pPr algn="l">
              <a:buNone/>
              <a:defRPr sz="1100" b="0">
                <a:solidFill>
                  <a:srgbClr val="3C91AE"/>
                </a:solidFill>
                <a:latin typeface="Rubik"/>
                <a:ea typeface="Rubik"/>
                <a:cs typeface="Rubik"/>
              </a:defRPr>
            </a:pPr>
            <a:r>
              <a:rPr sz="1100" b="0">
                <a:solidFill>
                  <a:srgbClr val="3C91AE"/>
                </a:solidFill>
                <a:latin typeface="Rubik"/>
                <a:ea typeface="Rubik"/>
                <a:cs typeface="Rubik"/>
                <a:hlinkClick xmlns:r="http://schemas.openxmlformats.org/officeDocument/2006/relationships" r:id="rHl5"/>
              </a:rPr>
              <a:t>learn.microsoft.com/dotnet/core/testing/unit-testing-best-practices</a:t>
            </a:r>
          </a:p>
          <a:p xmlns:a="http://schemas.openxmlformats.org/drawingml/2006/main">
            <a:pPr algn="l">
              <a:buNone/>
              <a:defRPr sz="700"/>
            </a:pPr>
            <a:endParaRPr sz="700"/>
          </a:p>
          <a:p xmlns:a="http://schemas.openxmlformats.org/drawingml/2006/main">
            <a:pPr algn="l">
              <a:buNone/>
              <a:defRPr sz="1350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.NET · Dependency injection guidelines</a:t>
            </a:r>
          </a:p>
          <a:p xmlns:a="http://schemas.openxmlformats.org/drawingml/2006/main">
            <a:pPr algn="l">
              <a:buNone/>
              <a:defRPr sz="1100" b="0">
                <a:solidFill>
                  <a:srgbClr val="3C91AE"/>
                </a:solidFill>
                <a:latin typeface="Rubik"/>
                <a:ea typeface="Rubik"/>
                <a:cs typeface="Rubik"/>
              </a:defRPr>
            </a:pPr>
            <a:r>
              <a:rPr sz="1100" b="0">
                <a:solidFill>
                  <a:srgbClr val="3C91AE"/>
                </a:solidFill>
                <a:latin typeface="Rubik"/>
                <a:ea typeface="Rubik"/>
                <a:cs typeface="Rubik"/>
                <a:hlinkClick xmlns:r="http://schemas.openxmlformats.org/officeDocument/2006/relationships" r:id="rHl6"/>
              </a:rPr>
              <a:t>learn.microsoft.com/dotnet/core/extensions/dependency-injection/guidelines</a:t>
            </a:r>
          </a:p>
          <a:p xmlns:a="http://schemas.openxmlformats.org/drawingml/2006/main">
            <a:pPr algn="l">
              <a:buNone/>
              <a:defRPr sz="700"/>
            </a:pPr>
            <a:endParaRPr sz="700"/>
          </a:p>
          <a:p xmlns:a="http://schemas.openxmlformats.org/drawingml/2006/main">
            <a:pPr algn="l">
              <a:buNone/>
              <a:defRPr sz="1350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.NET · Testing with FakeTimeProvider</a:t>
            </a:r>
          </a:p>
          <a:p xmlns:a="http://schemas.openxmlformats.org/drawingml/2006/main">
            <a:pPr algn="l">
              <a:buNone/>
              <a:defRPr sz="1100" b="0">
                <a:solidFill>
                  <a:srgbClr val="3C91AE"/>
                </a:solidFill>
                <a:latin typeface="Rubik"/>
                <a:ea typeface="Rubik"/>
                <a:cs typeface="Rubik"/>
              </a:defRPr>
            </a:pPr>
            <a:r>
              <a:rPr sz="1100" b="0">
                <a:solidFill>
                  <a:srgbClr val="3C91AE"/>
                </a:solidFill>
                <a:latin typeface="Rubik"/>
                <a:ea typeface="Rubik"/>
                <a:cs typeface="Rubik"/>
                <a:hlinkClick xmlns:r="http://schemas.openxmlformats.org/officeDocument/2006/relationships" r:id="rHl7"/>
              </a:rPr>
              <a:t>learn.microsoft.com/dotnet/core/extensions/timeprovider-testing</a:t>
            </a:r>
          </a:p>
          <a:p xmlns:a="http://schemas.openxmlformats.org/drawingml/2006/main">
            <a:pPr algn="l">
              <a:buNone/>
              <a:defRPr sz="700"/>
            </a:pPr>
            <a:endParaRPr sz="700"/>
          </a:p>
          <a:p xmlns:a="http://schemas.openxmlformats.org/drawingml/2006/main">
            <a:pPr algn="l">
              <a:buNone/>
              <a:defRPr sz="1350" b="0">
                <a:solidFill>
                  <a:srgbClr val="263A49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263A49"/>
                </a:solidFill>
                <a:latin typeface="Rubik"/>
                <a:ea typeface="Rubik"/>
                <a:cs typeface="Rubik"/>
              </a:rPr>
              <a:t>ASP.NET Core · Integration tests</a:t>
            </a:r>
          </a:p>
          <a:p xmlns:a="http://schemas.openxmlformats.org/drawingml/2006/main">
            <a:pPr algn="l">
              <a:buNone/>
              <a:defRPr sz="1100" b="0">
                <a:solidFill>
                  <a:srgbClr val="3C91AE"/>
                </a:solidFill>
                <a:latin typeface="Rubik"/>
                <a:ea typeface="Rubik"/>
                <a:cs typeface="Rubik"/>
              </a:defRPr>
            </a:pPr>
            <a:r>
              <a:rPr sz="1100" b="0">
                <a:solidFill>
                  <a:srgbClr val="3C91AE"/>
                </a:solidFill>
                <a:latin typeface="Rubik"/>
                <a:ea typeface="Rubik"/>
                <a:cs typeface="Rubik"/>
                <a:hlinkClick xmlns:r="http://schemas.openxmlformats.org/officeDocument/2006/relationships" r:id="rHl8"/>
              </a:rPr>
              <a:t>learn.microsoft.com/aspnet/core/test/integration-tests</a:t>
            </a:r>
          </a:p>
        </p:txBody>
      </p:sp>
    </p:spTree>
    <p:extLst>
      <p:ext uri="{BB962C8B-B14F-4D97-AF65-F5344CB8AC3E}">
        <p14:creationId xmlns:p14="http://schemas.microsoft.com/office/powerpoint/2010/main" val="13062054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93548405349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0296572B-8988-48AC-B516-06F7698D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3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APPLY THIS TOMORROW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052FC453-B536-4780-BD24-9D631DC1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62025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defRPr>
            </a:pPr>
            <a:r>
              <a:rPr sz="4800" b="1">
                <a:solidFill>
                  <a:srgbClr val="002250"/>
                </a:solidFill>
                <a:latin typeface="Rubik Medium"/>
                <a:ea typeface="Rubik Medium"/>
                <a:cs typeface="Rubik Medium"/>
              </a:rPr>
              <a:t>Keep decisions pure,
dependencies explicit,
and effects at the edge.</a:t>
            </a:r>
          </a:p>
        </p:txBody>
      </p:sp>
      <p:cxnSp>
        <p:nvCxnSpPr>
          <p:cNvPr id="17" name="close-rule"/>
          <p:cNvCxnSpPr/>
          <p:nvPr/>
        </p:nvCxnSpPr>
        <p:spPr>
          <a:xfrm xmlns:a="http://schemas.openxmlformats.org/drawingml/2006/main">
            <a:off x="400050" y="47625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91AE"/>
            </a:solidFill>
            <a:prstDash val="solid"/>
          </a:ln>
        </p:spPr>
      </p:cxnSp>
      <p:sp>
        <p:nvSpPr>
          <p:cNvPr id="4" name="close-1">
            <a:extLst xmlns:a="http://schemas.openxmlformats.org/drawingml/2006/main">
              <a:ext uri="{FF2B5EF4-FFF2-40B4-BE49-F238E27FC236}">
                <a16:creationId xmlns:a16="http://schemas.microsoft.com/office/drawing/2014/main" id="{7A5DB928-AE92-4C74-85B9-DA3FE8C9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3333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6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01  Extract one decision</a:t>
            </a:r>
          </a:p>
        </p:txBody>
      </p:sp>
      <p:sp>
        <p:nvSpPr>
          <p:cNvPr id="5" name="close-2">
            <a:extLst xmlns:a="http://schemas.openxmlformats.org/drawingml/2006/main">
              <a:ext uri="{FF2B5EF4-FFF2-40B4-BE49-F238E27FC236}">
                <a16:creationId xmlns:a16="http://schemas.microsoft.com/office/drawing/2014/main" id="{F6354EA9-16B4-4A24-B27F-8A98BE2E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19700"/>
            <a:ext cx="3429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6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02  Control one dependency</a:t>
            </a:r>
          </a:p>
        </p:txBody>
      </p:sp>
      <p:sp>
        <p:nvSpPr>
          <p:cNvPr id="6" name="close-3">
            <a:extLst xmlns:a="http://schemas.openxmlformats.org/drawingml/2006/main">
              <a:ext uri="{FF2B5EF4-FFF2-40B4-BE49-F238E27FC236}">
                <a16:creationId xmlns:a16="http://schemas.microsoft.com/office/drawing/2014/main" id="{9E11F34E-F0D4-4495-97FF-7A0B3A42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19700"/>
            <a:ext cx="3143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defRPr>
            </a:pPr>
            <a:r>
              <a:rPr sz="1650" b="1">
                <a:solidFill>
                  <a:srgbClr val="3C91AE"/>
                </a:solidFill>
                <a:latin typeface="Rubik Medium"/>
                <a:ea typeface="Rubik Medium"/>
                <a:cs typeface="Rubik Medium"/>
              </a:rPr>
              <a:t>03  Test one behavior</a:t>
            </a:r>
          </a:p>
        </p:txBody>
      </p:sp>
    </p:spTree>
    <p:extLst>
      <p:ext uri="{BB962C8B-B14F-4D97-AF65-F5344CB8AC3E}">
        <p14:creationId xmlns:p14="http://schemas.microsoft.com/office/powerpoint/2010/main" val="21443643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2026-07-29T12:51:22.8690000Z</dcterms:created>
  <dcterms:modified xsi:type="dcterms:W3CDTF">2026-07-29T12:51:22.8690000Z</dcterms:modified>
</coreProperties>
</file>